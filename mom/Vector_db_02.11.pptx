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2" r:id="rId2"/>
    <p:sldId id="259" r:id="rId3"/>
    <p:sldId id="260" r:id="rId4"/>
    <p:sldId id="261" r:id="rId5"/>
    <p:sldId id="258" r:id="rId6"/>
    <p:sldId id="256" r:id="rId7"/>
    <p:sldId id="25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E2C23C-4900-4780-93E6-969CBF6CA784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B96CA1-07D3-4CC3-B1C5-32B5808BBD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0141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__,Microsoft, Alibaba</a:t>
            </a:r>
          </a:p>
          <a:p>
            <a:r>
              <a:rPr lang="en-US" dirty="0"/>
              <a:t>Meta, Apache, Google</a:t>
            </a:r>
            <a:br>
              <a:rPr lang="en-US" dirty="0"/>
            </a:b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B96CA1-07D3-4CC3-B1C5-32B5808BBDBA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07471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D4580-2B0A-2446-B074-312B4D626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CDCFBF-897F-134C-9689-0317C57A6F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E58564-D6ED-8B1E-F27F-970EC02424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__,Microsoft, Alibaba</a:t>
            </a:r>
          </a:p>
          <a:p>
            <a:r>
              <a:rPr lang="en-US" dirty="0"/>
              <a:t>Meta, Apache, Google</a:t>
            </a:r>
            <a:br>
              <a:rPr lang="en-US" dirty="0"/>
            </a:b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14057-6A8C-8A27-5707-3ADF21AC9D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B96CA1-07D3-4CC3-B1C5-32B5808BBDBA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53691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74222-47F3-234B-D4EC-F2F1EB0189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CAD37D-E94E-4A24-6A65-AAD71964F1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366219-E71D-7B68-2492-7CEF92128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18AA1-B4F3-443E-A869-33FFA6D6D37D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B117AB-375A-3260-83E1-6F1399451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34472-2319-C108-67A3-35D52F4D6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4DB39-D97F-4225-992C-EA95890A0C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6169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8CF80-01DB-9815-3CD0-E34315989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B290C-C3E1-8CC9-D19A-9ABEAEEFB4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9981EE-DDD8-D622-488B-D55D17E40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18AA1-B4F3-443E-A869-33FFA6D6D37D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268595-5A1C-CBFC-73A3-44FD6FC54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9A71C6-3BB9-D905-2379-011C918EE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4DB39-D97F-4225-992C-EA95890A0C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0143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5E8F4-FF9D-41A9-4C4D-E53AE1E5A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4A5E0D-7826-C207-8643-61CC22F03F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5463EA-4831-B6A6-EE68-E327F550B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18AA1-B4F3-443E-A869-33FFA6D6D37D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529207-909F-CFF7-0D9D-3C8ECF3C9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79704-21AA-31EE-518C-E7FAAD29D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4DB39-D97F-4225-992C-EA95890A0C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077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0F970-CB93-073F-75E5-AF56B3024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DB8F2-F17E-B86E-58C4-A0A93B92B3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7F4651-1751-6E3A-ACE5-BA8EE0F5D8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82FCBA-1CEB-D407-668C-A14107073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18AA1-B4F3-443E-A869-33FFA6D6D37D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492C04-ADCF-5C22-E797-B09A71D8A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EDCA98-8402-D02A-6BCA-F4884722B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4DB39-D97F-4225-992C-EA95890A0C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512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3E477-9901-D3B5-5843-F6D513495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EB4D25-A91C-DC09-7E08-2A1DC0A529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3A7104-7177-A613-1C23-1C525764BE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B9109F-6C5E-821B-9240-16893486F4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3C4B2A-5DF4-A756-4318-1B5C69EC8C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C7B77A-71F0-B418-7BE8-C37798034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18AA1-B4F3-443E-A869-33FFA6D6D37D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2E81BA-BF54-0B60-FC79-CE9DF5174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196664-66AE-3AE1-AF7F-3891EBB7D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4DB39-D97F-4225-992C-EA95890A0C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5913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1153E-90BD-D518-1758-05B952998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A314C4-EAC5-487C-DDF7-5B8195089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18AA1-B4F3-443E-A869-33FFA6D6D37D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2ADFA8-E0C3-BFF3-B3DE-B787C1448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8225DC-3E2C-2E96-3A21-73559B32D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4DB39-D97F-4225-992C-EA95890A0C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0527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5A6B5B-FFCF-FECD-F897-1F09ED782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18AA1-B4F3-443E-A869-33FFA6D6D37D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8F4F6B-7C94-560A-D83B-8B43173DD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481615-561C-950D-0FF3-B3A19D8C8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4DB39-D97F-4225-992C-EA95890A0C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6298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4000B-4B2F-3C2A-8799-2F472D082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E9298F-6995-DB52-544A-53C4EBF2DC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4C5601-9F66-4DFE-A06D-FBFC05470B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C58191-8EEE-0107-C11B-B6B269816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18AA1-B4F3-443E-A869-33FFA6D6D37D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43D184-05E7-6602-C996-1DFD9EF6E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4B9F5B-2E0E-C4C1-5213-60300D0C9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4DB39-D97F-4225-992C-EA95890A0C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5085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47913-F0A8-8BFF-A7B0-9B6AAEBA0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7C639F-4A73-ED62-BD7D-EFE24963D5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4CA23C-11E6-4894-57E3-194D258356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2F81D6-5EC2-8646-B7E2-81B2601E8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18AA1-B4F3-443E-A869-33FFA6D6D37D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5681B3-AEB7-4EC2-D093-B9ED295C7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0B8222-3BD2-5D5B-AE54-2E9DB83E4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4DB39-D97F-4225-992C-EA95890A0C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6940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DC987-80E6-C208-E5EF-94B09BAD6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761670-26CE-E17E-09B6-30C45E10FA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C24204-F857-A949-C3F0-9742F24C5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18AA1-B4F3-443E-A869-33FFA6D6D37D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17489B-6080-DD75-D0A3-4A478E17C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D2EA1-630B-C7C9-99EF-B0275B0D1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4DB39-D97F-4225-992C-EA95890A0C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342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CF8755-5FAD-9C0D-C9F6-A9C9A235E3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C45597-EE81-36FB-6606-B2A065A985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E25548-E0AD-6EF3-E78A-D49537921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18AA1-B4F3-443E-A869-33FFA6D6D37D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510A1-43C2-7E80-0029-5E2142EC1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76654-5C22-DAFB-5A55-EE838D569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4DB39-D97F-4225-992C-EA95890A0C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868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2762F9-95A3-1431-96F0-BBAB67D00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506FEB-8D9B-3EEF-6DEB-BC3675CB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B3FC4C-290D-3035-D1CC-E56D9F471B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618AA1-B4F3-443E-A869-33FFA6D6D37D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DB107F-B8DB-6EA7-417A-7231403D50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FF206A-6816-8CF0-C02E-E29A1EE2BF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44DB39-D97F-4225-992C-EA95890A0C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3524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E0889B6-1DFB-B9DC-B6DF-803791ABA5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8699696"/>
              </p:ext>
            </p:extLst>
          </p:nvPr>
        </p:nvGraphicFramePr>
        <p:xfrm>
          <a:off x="2032000" y="1963250"/>
          <a:ext cx="8128000" cy="21577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40598623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83468935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75478269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61637846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380369456"/>
                    </a:ext>
                  </a:extLst>
                </a:gridCol>
              </a:tblGrid>
              <a:tr h="505884">
                <a:tc>
                  <a:txBody>
                    <a:bodyPr/>
                    <a:lstStyle/>
                    <a:p>
                      <a:r>
                        <a:rPr lang="en-US" dirty="0"/>
                        <a:t>Database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Index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Avg Latency (s)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Throughput (q/s)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Total Time </a:t>
                      </a:r>
                      <a:br>
                        <a:rPr lang="en-US" dirty="0"/>
                      </a:br>
                      <a:r>
                        <a:rPr lang="en-US" dirty="0"/>
                        <a:t>(s)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9275360"/>
                  </a:ext>
                </a:extLst>
              </a:tr>
              <a:tr h="505884">
                <a:tc>
                  <a:txBody>
                    <a:bodyPr/>
                    <a:lstStyle/>
                    <a:p>
                      <a:r>
                        <a:rPr lang="en-US" dirty="0"/>
                        <a:t>Chroma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HNSW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0.0036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85.78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11.66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0460998"/>
                  </a:ext>
                </a:extLst>
              </a:tr>
              <a:tr h="505884">
                <a:tc>
                  <a:txBody>
                    <a:bodyPr/>
                    <a:lstStyle/>
                    <a:p>
                      <a:r>
                        <a:rPr lang="en-US" dirty="0" err="1"/>
                        <a:t>Qdrant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HNSW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0.0167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40.15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24.91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0851063"/>
                  </a:ext>
                </a:extLst>
              </a:tr>
              <a:tr h="505884">
                <a:tc>
                  <a:txBody>
                    <a:bodyPr/>
                    <a:lstStyle/>
                    <a:p>
                      <a:r>
                        <a:rPr lang="en-US" dirty="0"/>
                        <a:t>Milvus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IVF_Flat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0.0062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68.95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14.5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7659295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B836A60F-CD81-5EC2-DA6E-D97C7696F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Benchmarking Table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A484E4-2C13-8F17-FDA7-C0FD2C3B224C}"/>
              </a:ext>
            </a:extLst>
          </p:cNvPr>
          <p:cNvSpPr txBox="1"/>
          <p:nvPr/>
        </p:nvSpPr>
        <p:spPr>
          <a:xfrm>
            <a:off x="2032000" y="4898127"/>
            <a:ext cx="69311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Latency: time for a single query</a:t>
            </a:r>
          </a:p>
          <a:p>
            <a:r>
              <a:rPr lang="en-US" dirty="0"/>
              <a:t>Throughput: </a:t>
            </a:r>
            <a:r>
              <a:rPr lang="en-US" dirty="0" err="1"/>
              <a:t>no.of</a:t>
            </a:r>
            <a:r>
              <a:rPr lang="en-US" dirty="0"/>
              <a:t> query per second</a:t>
            </a:r>
          </a:p>
          <a:p>
            <a:r>
              <a:rPr lang="en-US" dirty="0"/>
              <a:t>No of queries: 1000</a:t>
            </a:r>
            <a:endParaRPr lang="en-IN" dirty="0"/>
          </a:p>
        </p:txBody>
      </p:sp>
      <p:sp>
        <p:nvSpPr>
          <p:cNvPr id="5" name="Date Placeholder 13">
            <a:extLst>
              <a:ext uri="{FF2B5EF4-FFF2-40B4-BE49-F238E27FC236}">
                <a16:creationId xmlns:a16="http://schemas.microsoft.com/office/drawing/2014/main" id="{0521DD62-5715-DC26-4C0B-99C8D87B65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IN" dirty="0"/>
              <a:t>11 March 2026</a:t>
            </a:r>
          </a:p>
        </p:txBody>
      </p:sp>
    </p:spTree>
    <p:extLst>
      <p:ext uri="{BB962C8B-B14F-4D97-AF65-F5344CB8AC3E}">
        <p14:creationId xmlns:p14="http://schemas.microsoft.com/office/powerpoint/2010/main" val="1923336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E1735E7-B32C-95B9-A1E0-6362E8CEF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346139"/>
            <a:ext cx="5157787" cy="823912"/>
          </a:xfr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3200" dirty="0"/>
              <a:t>Completed this week</a:t>
            </a:r>
            <a:endParaRPr lang="en-IN" sz="320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16325E0-241B-715A-9EAE-621D57440F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344168"/>
            <a:ext cx="5157787" cy="4845495"/>
          </a:xfrm>
          <a:ln>
            <a:solidFill>
              <a:schemeClr val="tx2"/>
            </a:solidFill>
          </a:ln>
        </p:spPr>
        <p:txBody>
          <a:bodyPr>
            <a:normAutofit lnSpcReduction="10000"/>
          </a:bodyPr>
          <a:lstStyle/>
          <a:p>
            <a:pPr marL="0" indent="0">
              <a:spcBef>
                <a:spcPts val="500"/>
              </a:spcBef>
              <a:buNone/>
            </a:pPr>
            <a:r>
              <a:rPr lang="en-IN" sz="1600" b="1" dirty="0"/>
              <a:t>1.  Explored options to add images:</a:t>
            </a:r>
            <a:endParaRPr lang="en-IN" sz="1600" dirty="0"/>
          </a:p>
          <a:p>
            <a:pPr marL="342900" indent="-342900">
              <a:spcBef>
                <a:spcPts val="500"/>
              </a:spcBef>
              <a:buAutoNum type="alphaLcPeriod"/>
            </a:pPr>
            <a:r>
              <a:rPr lang="en-IN" sz="1600" dirty="0"/>
              <a:t>Text &amp; image in different vector spaces vs. same vector space </a:t>
            </a:r>
          </a:p>
          <a:p>
            <a:pPr marL="342900" indent="-342900">
              <a:spcBef>
                <a:spcPts val="500"/>
              </a:spcBef>
              <a:buAutoNum type="alphaLcPeriod"/>
            </a:pPr>
            <a:r>
              <a:rPr lang="en-IN" sz="1600" dirty="0"/>
              <a:t>diff. model vs. same embedder</a:t>
            </a:r>
          </a:p>
          <a:p>
            <a:pPr marL="342900" indent="-342900">
              <a:spcBef>
                <a:spcPts val="500"/>
              </a:spcBef>
              <a:buAutoNum type="alphaLcPeriod"/>
            </a:pPr>
            <a:r>
              <a:rPr lang="en-IN" sz="1600" dirty="0"/>
              <a:t>Hybrid approach: convert images to text</a:t>
            </a:r>
          </a:p>
          <a:p>
            <a:pPr marL="342900" indent="-342900">
              <a:spcBef>
                <a:spcPts val="500"/>
              </a:spcBef>
              <a:buAutoNum type="alphaLcPeriod"/>
            </a:pPr>
            <a:r>
              <a:rPr lang="en-IN" sz="1600" dirty="0"/>
              <a:t>Extract directly from Wikipedia, or explore Wikimedia Commons</a:t>
            </a:r>
          </a:p>
          <a:p>
            <a:pPr marL="342900" indent="-342900">
              <a:spcBef>
                <a:spcPts val="500"/>
              </a:spcBef>
              <a:buAutoNum type="alphaLcPeriod"/>
            </a:pPr>
            <a:r>
              <a:rPr lang="en-IN" sz="1600" dirty="0"/>
              <a:t>HF datasets: MS COCO, Conceptual Captions, LAION</a:t>
            </a:r>
            <a:br>
              <a:rPr lang="en-IN" sz="1600" dirty="0"/>
            </a:br>
            <a:endParaRPr lang="en-IN" sz="1600" dirty="0"/>
          </a:p>
          <a:p>
            <a:pPr marL="0" indent="0">
              <a:spcBef>
                <a:spcPts val="500"/>
              </a:spcBef>
              <a:buNone/>
            </a:pPr>
            <a:r>
              <a:rPr lang="en-IN" sz="1600" b="1" dirty="0"/>
              <a:t>2.  Decided to go with WIT (Wikipedia Image Text) and sampled 1000 images with metadata:</a:t>
            </a:r>
            <a:endParaRPr lang="en-IN" sz="1600" dirty="0"/>
          </a:p>
          <a:p>
            <a:pPr>
              <a:spcBef>
                <a:spcPts val="300"/>
              </a:spcBef>
              <a:buNone/>
            </a:pPr>
            <a:r>
              <a:rPr lang="en-IN" sz="1600" dirty="0"/>
              <a:t>• </a:t>
            </a:r>
            <a:r>
              <a:rPr lang="en-IN" sz="1600" dirty="0" err="1"/>
              <a:t>image_id</a:t>
            </a:r>
            <a:endParaRPr lang="en-IN" sz="1600" dirty="0"/>
          </a:p>
          <a:p>
            <a:pPr>
              <a:spcBef>
                <a:spcPts val="300"/>
              </a:spcBef>
              <a:buNone/>
            </a:pPr>
            <a:r>
              <a:rPr lang="en-IN" sz="1600" dirty="0"/>
              <a:t>• </a:t>
            </a:r>
            <a:r>
              <a:rPr lang="en-IN" sz="1600" dirty="0" err="1"/>
              <a:t>article_id</a:t>
            </a:r>
            <a:endParaRPr lang="en-IN" sz="1600" dirty="0"/>
          </a:p>
          <a:p>
            <a:pPr>
              <a:spcBef>
                <a:spcPts val="300"/>
              </a:spcBef>
              <a:buNone/>
            </a:pPr>
            <a:r>
              <a:rPr lang="en-IN" sz="1600" dirty="0"/>
              <a:t>• Caption</a:t>
            </a:r>
            <a:br>
              <a:rPr lang="en-IN" sz="1600" dirty="0"/>
            </a:br>
            <a:endParaRPr lang="en-IN" sz="1600" dirty="0"/>
          </a:p>
          <a:p>
            <a:pPr>
              <a:spcBef>
                <a:spcPts val="500"/>
              </a:spcBef>
              <a:buNone/>
            </a:pPr>
            <a:r>
              <a:rPr lang="en-IN" sz="1600" b="1" dirty="0"/>
              <a:t>3.	 Added new embedding model, CLIP, which transforms text &amp; images to vectors:</a:t>
            </a:r>
            <a:endParaRPr lang="en-IN" sz="1600" dirty="0"/>
          </a:p>
          <a:p>
            <a:pPr marL="0" indent="0">
              <a:spcBef>
                <a:spcPts val="500"/>
              </a:spcBef>
              <a:buNone/>
            </a:pPr>
            <a:r>
              <a:rPr lang="en-IN" sz="1600" dirty="0"/>
              <a:t>Both text &amp; image vectors in same vector space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3906DD9-02A1-CA7D-5BFF-9CB181C362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346139"/>
            <a:ext cx="5183188" cy="823912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3200" dirty="0"/>
              <a:t>To be done</a:t>
            </a:r>
            <a:endParaRPr lang="en-IN" sz="3200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EEC6EDB-DA32-10B0-B798-A4745080B6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344168"/>
            <a:ext cx="5183188" cy="4845495"/>
          </a:xfrm>
          <a:ln>
            <a:solidFill>
              <a:schemeClr val="tx2"/>
            </a:solidFill>
          </a:ln>
        </p:spPr>
        <p:txBody>
          <a:bodyPr>
            <a:normAutofit lnSpcReduction="10000"/>
          </a:bodyPr>
          <a:lstStyle/>
          <a:p>
            <a:r>
              <a:rPr lang="en-US" sz="2000" dirty="0"/>
              <a:t>Match images to existing 1,000 Wikipedia articles when scaling</a:t>
            </a:r>
          </a:p>
          <a:p>
            <a:r>
              <a:rPr lang="en-IN" sz="2000" dirty="0"/>
              <a:t>RAG Integration: Add Retrieval-Augmented Generation system. Evaluate open-source LLMs (</a:t>
            </a:r>
            <a:r>
              <a:rPr lang="en-IN" sz="2000" dirty="0" err="1"/>
              <a:t>LLaMA</a:t>
            </a:r>
            <a:r>
              <a:rPr lang="en-IN" sz="2000" dirty="0"/>
              <a:t> 3, Mistral 7B, Gemma 2B/7B).</a:t>
            </a:r>
          </a:p>
          <a:p>
            <a:r>
              <a:rPr lang="en-IN" sz="2000" dirty="0"/>
              <a:t>Dataset Scaling: Expand dataset beyond 1000 articles. Increase query set beyond 1000.</a:t>
            </a:r>
          </a:p>
          <a:p>
            <a:r>
              <a:rPr lang="en-IN" sz="2000" dirty="0"/>
              <a:t>Data Storage Optimization: Optimize storing &amp; accessing dataset via database.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E7B49032-153B-7AC5-EE21-40E5BCA70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04 March 2026</a:t>
            </a:r>
          </a:p>
        </p:txBody>
      </p:sp>
    </p:spTree>
    <p:extLst>
      <p:ext uri="{BB962C8B-B14F-4D97-AF65-F5344CB8AC3E}">
        <p14:creationId xmlns:p14="http://schemas.microsoft.com/office/powerpoint/2010/main" val="2193463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CCE2B-F517-63D9-97E0-8FF9016AE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3743791-AE8B-A9D3-2AC3-D324E1FE7D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346139"/>
            <a:ext cx="5157787" cy="823912"/>
          </a:xfr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3200" dirty="0"/>
              <a:t>Completed this week</a:t>
            </a:r>
            <a:endParaRPr lang="en-IN" sz="320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FDBC6A1-611A-EA13-44E8-7EAEB96FD7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344168"/>
            <a:ext cx="5157787" cy="4845495"/>
          </a:xfrm>
          <a:ln>
            <a:solidFill>
              <a:schemeClr val="tx2"/>
            </a:solidFill>
          </a:ln>
        </p:spPr>
        <p:txBody>
          <a:bodyPr>
            <a:normAutofit/>
          </a:bodyPr>
          <a:lstStyle/>
          <a:p>
            <a:r>
              <a:rPr lang="en-IN" sz="2000" dirty="0"/>
              <a:t>Migration: </a:t>
            </a:r>
            <a:br>
              <a:rPr lang="en-IN" sz="2000" dirty="0"/>
            </a:br>
            <a:r>
              <a:rPr lang="en-IN" sz="2000" dirty="0"/>
              <a:t>Migrated project to IU Research Desktop (RED) Linux VM environment.</a:t>
            </a:r>
          </a:p>
          <a:p>
            <a:r>
              <a:rPr lang="en-IN" sz="2000" dirty="0"/>
              <a:t>Milvus: </a:t>
            </a:r>
            <a:br>
              <a:rPr lang="en-IN" sz="2000" dirty="0"/>
            </a:br>
            <a:r>
              <a:rPr lang="en-IN" sz="2000" dirty="0"/>
              <a:t>Integrated Milvus into modular pipeline, with </a:t>
            </a:r>
            <a:r>
              <a:rPr lang="en-IN" sz="2000" dirty="0" err="1"/>
              <a:t>milvus_lite</a:t>
            </a:r>
            <a:r>
              <a:rPr lang="en-IN" sz="2000" dirty="0"/>
              <a:t> and milvus standalone</a:t>
            </a:r>
          </a:p>
          <a:p>
            <a:r>
              <a:rPr lang="en-IN" sz="2000" dirty="0"/>
              <a:t>Milvus Algo: </a:t>
            </a:r>
            <a:br>
              <a:rPr lang="en-IN" sz="2000" dirty="0"/>
            </a:br>
            <a:r>
              <a:rPr lang="en-IN" sz="2000" dirty="0"/>
              <a:t>Retrieval flow with HNSW and </a:t>
            </a:r>
            <a:r>
              <a:rPr lang="en-IN" sz="2000" dirty="0" err="1"/>
              <a:t>DiskANN</a:t>
            </a:r>
            <a:r>
              <a:rPr lang="en-IN" sz="2000" dirty="0"/>
              <a:t> indexing configurations.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B38DFC5-80CC-DFA1-5827-2E31322C4F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346139"/>
            <a:ext cx="5183188" cy="823912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3200" dirty="0"/>
              <a:t>To be done</a:t>
            </a:r>
            <a:endParaRPr lang="en-IN" sz="3200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1884007-B9A7-2C0E-E39B-164808D603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344168"/>
            <a:ext cx="5183188" cy="4845495"/>
          </a:xfrm>
          <a:ln>
            <a:solidFill>
              <a:schemeClr val="tx2"/>
            </a:solidFill>
          </a:ln>
        </p:spPr>
        <p:txBody>
          <a:bodyPr>
            <a:normAutofit/>
          </a:bodyPr>
          <a:lstStyle/>
          <a:p>
            <a:r>
              <a:rPr lang="en-IN" sz="2000" dirty="0"/>
              <a:t>Encoder Expansion: Test alternate encoders (BGE-large, E5-large, GTE-base).</a:t>
            </a:r>
          </a:p>
          <a:p>
            <a:r>
              <a:rPr lang="en-IN" sz="2000" dirty="0"/>
              <a:t>RAG Integration: Add Retrieval-Augmented Generation system. Evaluate open-source LLMs (</a:t>
            </a:r>
            <a:r>
              <a:rPr lang="en-IN" sz="2000" dirty="0" err="1"/>
              <a:t>LLaMA</a:t>
            </a:r>
            <a:r>
              <a:rPr lang="en-IN" sz="2000" dirty="0"/>
              <a:t> 3, Mistral 7B, Gemma 2B/7B).</a:t>
            </a:r>
          </a:p>
          <a:p>
            <a:r>
              <a:rPr lang="en-IN" sz="2000" dirty="0"/>
              <a:t>Multimodal Exploration: Investigate adding images to dataset. Explore alternate query inputs/types.</a:t>
            </a:r>
          </a:p>
          <a:p>
            <a:r>
              <a:rPr lang="en-IN" sz="2000" dirty="0"/>
              <a:t>Dataset Scaling: Expand dataset beyond 1000 articles. Increase query set beyond 1000.</a:t>
            </a:r>
          </a:p>
          <a:p>
            <a:r>
              <a:rPr lang="en-IN" sz="2000" dirty="0"/>
              <a:t>Data Storage Optimization: Optimize storing &amp; accessing dataset via database.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9793898A-9B04-7CCA-6F1E-08F81689A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18 Feb 2026</a:t>
            </a:r>
          </a:p>
        </p:txBody>
      </p:sp>
    </p:spTree>
    <p:extLst>
      <p:ext uri="{BB962C8B-B14F-4D97-AF65-F5344CB8AC3E}">
        <p14:creationId xmlns:p14="http://schemas.microsoft.com/office/powerpoint/2010/main" val="2131282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C16248-E094-BA2D-9A7F-7AC2F5C66D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5265" y="0"/>
            <a:ext cx="50814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3829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A823C4-4733-2DF6-1DCD-EAA0F06FF1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3952" y="0"/>
            <a:ext cx="438912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500ECC2-183F-1270-058C-A58061383DB0}"/>
              </a:ext>
            </a:extLst>
          </p:cNvPr>
          <p:cNvSpPr txBox="1"/>
          <p:nvPr/>
        </p:nvSpPr>
        <p:spPr>
          <a:xfrm>
            <a:off x="941832" y="1298448"/>
            <a:ext cx="49834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+mj-lt"/>
              </a:rPr>
              <a:t>Updated Pipeline with </a:t>
            </a:r>
            <a:br>
              <a:rPr lang="en-US" sz="4000" b="1" dirty="0">
                <a:latin typeface="+mj-lt"/>
              </a:rPr>
            </a:br>
            <a:r>
              <a:rPr lang="en-US" sz="4000" b="1" dirty="0">
                <a:latin typeface="+mj-lt"/>
              </a:rPr>
              <a:t>proposed RAG system</a:t>
            </a:r>
            <a:endParaRPr lang="en-IN" sz="4000" b="1" dirty="0">
              <a:latin typeface="+mj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5AE6703-474E-BB66-CE96-078400B8C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18 Feb 2026</a:t>
            </a:r>
          </a:p>
        </p:txBody>
      </p:sp>
    </p:spTree>
    <p:extLst>
      <p:ext uri="{BB962C8B-B14F-4D97-AF65-F5344CB8AC3E}">
        <p14:creationId xmlns:p14="http://schemas.microsoft.com/office/powerpoint/2010/main" val="761739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AE5E05E-6C68-4536-3AA3-D2413B9374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E3B0726-2668-75F8-A6B6-533603D84D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9012302"/>
              </p:ext>
            </p:extLst>
          </p:nvPr>
        </p:nvGraphicFramePr>
        <p:xfrm>
          <a:off x="4992624" y="872066"/>
          <a:ext cx="5431536" cy="20764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4096">
                  <a:extLst>
                    <a:ext uri="{9D8B030D-6E8A-4147-A177-3AD203B41FA5}">
                      <a16:colId xmlns:a16="http://schemas.microsoft.com/office/drawing/2014/main" val="61518367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560336928"/>
                    </a:ext>
                  </a:extLst>
                </a:gridCol>
              </a:tblGrid>
              <a:tr h="459119">
                <a:tc>
                  <a:txBody>
                    <a:bodyPr/>
                    <a:lstStyle/>
                    <a:p>
                      <a:r>
                        <a:rPr lang="en-US" dirty="0"/>
                        <a:t>HNSW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DiskANN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382479"/>
                  </a:ext>
                </a:extLst>
              </a:tr>
              <a:tr h="459119">
                <a:tc>
                  <a:txBody>
                    <a:bodyPr/>
                    <a:lstStyle/>
                    <a:p>
                      <a:r>
                        <a:rPr lang="en-US" sz="1400" dirty="0"/>
                        <a:t>HNSW is not a full database by itself, but a vector indexing algorithm used inside many vector databases to perform fast approximate nearest neighbor search.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DiskANN</a:t>
                      </a:r>
                      <a:r>
                        <a:rPr lang="en-US" sz="1400" dirty="0"/>
                        <a:t> is an ANN indexing algorithm designed for large-scale vector search, especially when the dataset is too large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570901"/>
                  </a:ext>
                </a:extLst>
              </a:tr>
              <a:tr h="459119">
                <a:tc>
                  <a:txBody>
                    <a:bodyPr/>
                    <a:lstStyle/>
                    <a:p>
                      <a:r>
                        <a:rPr lang="en-US" sz="1400" dirty="0"/>
                        <a:t>Chroma, </a:t>
                      </a:r>
                      <a:r>
                        <a:rPr lang="en-US" sz="1400" dirty="0" err="1"/>
                        <a:t>Qdrant</a:t>
                      </a:r>
                      <a:r>
                        <a:rPr lang="en-US" sz="1400" dirty="0"/>
                        <a:t>, Milvus, Pinecone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Milvus, FAISS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61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D28870F-7184-DC64-8A02-66321EA9937D}"/>
              </a:ext>
            </a:extLst>
          </p:cNvPr>
          <p:cNvSpPr txBox="1"/>
          <p:nvPr/>
        </p:nvSpPr>
        <p:spPr>
          <a:xfrm>
            <a:off x="4526280" y="4197096"/>
            <a:ext cx="6858000" cy="23083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/>
              <a:t>When using HNSW in vector databases like </a:t>
            </a:r>
            <a:r>
              <a:rPr lang="en-IN" sz="1600" dirty="0" err="1"/>
              <a:t>Qdrant</a:t>
            </a:r>
            <a:r>
              <a:rPr lang="en-IN" sz="1600" dirty="0"/>
              <a:t>, Milvus, or Pinecone, you usually tune:	</a:t>
            </a:r>
            <a:br>
              <a:rPr lang="en-IN" sz="1600" dirty="0"/>
            </a:br>
            <a:r>
              <a:rPr lang="en-IN" sz="1600" dirty="0"/>
              <a:t>• </a:t>
            </a:r>
            <a:r>
              <a:rPr lang="en-IN" sz="1600" b="1" dirty="0"/>
              <a:t>M → Number of connections per node</a:t>
            </a:r>
            <a:br>
              <a:rPr lang="en-IN" sz="1600" b="1" dirty="0"/>
            </a:br>
            <a:r>
              <a:rPr lang="en-IN" sz="1600" dirty="0"/>
              <a:t>Higher M = better recall but more memory usage	</a:t>
            </a:r>
            <a:br>
              <a:rPr lang="en-IN" sz="1600" dirty="0"/>
            </a:br>
            <a:r>
              <a:rPr lang="en-IN" sz="1600" dirty="0"/>
              <a:t>• </a:t>
            </a:r>
            <a:r>
              <a:rPr lang="en-IN" sz="1600" b="1" dirty="0" err="1"/>
              <a:t>ef_construction</a:t>
            </a:r>
            <a:r>
              <a:rPr lang="en-IN" sz="1600" b="1" dirty="0"/>
              <a:t> → Controls index build quality</a:t>
            </a:r>
            <a:br>
              <a:rPr lang="en-IN" sz="1600" b="1" dirty="0"/>
            </a:br>
            <a:r>
              <a:rPr lang="en-IN" sz="1600" dirty="0"/>
              <a:t>Higher value = better accuracy, slower indexing	</a:t>
            </a:r>
            <a:br>
              <a:rPr lang="en-IN" sz="1600" dirty="0"/>
            </a:br>
            <a:r>
              <a:rPr lang="en-IN" sz="1600" dirty="0"/>
              <a:t>• </a:t>
            </a:r>
            <a:r>
              <a:rPr lang="en-IN" sz="1600" b="1" dirty="0" err="1"/>
              <a:t>ef_search</a:t>
            </a:r>
            <a:r>
              <a:rPr lang="en-IN" sz="1600" b="1" dirty="0"/>
              <a:t> → Controls search accuracy</a:t>
            </a:r>
            <a:br>
              <a:rPr lang="en-IN" sz="1600" b="1" dirty="0"/>
            </a:br>
            <a:r>
              <a:rPr lang="en-IN" sz="1600" dirty="0"/>
              <a:t>Higher value = better recall, slightly slower queries</a:t>
            </a:r>
            <a:br>
              <a:rPr lang="en-IN" sz="1600" dirty="0"/>
            </a:br>
            <a:r>
              <a:rPr lang="en-IN" sz="1600" dirty="0"/>
              <a:t>These parameters allow you to balance speed, memory, and accuracy.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AF776-58E5-5BF2-02F8-B697799BC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11 Feb 2026</a:t>
            </a:r>
          </a:p>
        </p:txBody>
      </p:sp>
    </p:spTree>
    <p:extLst>
      <p:ext uri="{BB962C8B-B14F-4D97-AF65-F5344CB8AC3E}">
        <p14:creationId xmlns:p14="http://schemas.microsoft.com/office/powerpoint/2010/main" val="227346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DD4A7-077A-29C2-0FFA-80CE63018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1E639A-9A14-7955-DBCC-71834C6BD2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65"/>
          <a:stretch>
            <a:fillRect/>
          </a:stretch>
        </p:blipFill>
        <p:spPr>
          <a:xfrm>
            <a:off x="1224643" y="321128"/>
            <a:ext cx="9742714" cy="6215743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D1ECD8-0D3B-CE06-9EE2-F3C449D1D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11 Feb 2026</a:t>
            </a:r>
          </a:p>
        </p:txBody>
      </p:sp>
    </p:spTree>
    <p:extLst>
      <p:ext uri="{BB962C8B-B14F-4D97-AF65-F5344CB8AC3E}">
        <p14:creationId xmlns:p14="http://schemas.microsoft.com/office/powerpoint/2010/main" val="20501378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562</Words>
  <Application>Microsoft Office PowerPoint</Application>
  <PresentationFormat>Widescreen</PresentationFormat>
  <Paragraphs>72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Benchmarking Table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 H I V A L I</dc:creator>
  <cp:lastModifiedBy>S H I V A L I</cp:lastModifiedBy>
  <cp:revision>17</cp:revision>
  <dcterms:created xsi:type="dcterms:W3CDTF">2026-02-11T20:32:26Z</dcterms:created>
  <dcterms:modified xsi:type="dcterms:W3CDTF">2026-03-26T21:57:43Z</dcterms:modified>
</cp:coreProperties>
</file>