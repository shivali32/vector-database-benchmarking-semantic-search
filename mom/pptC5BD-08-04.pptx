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0" r:id="rId2"/>
    <p:sldId id="271" r:id="rId3"/>
    <p:sldId id="266" r:id="rId4"/>
    <p:sldId id="265" r:id="rId5"/>
    <p:sldId id="269" r:id="rId6"/>
    <p:sldId id="268" r:id="rId7"/>
    <p:sldId id="263" r:id="rId8"/>
    <p:sldId id="262" r:id="rId9"/>
    <p:sldId id="264" r:id="rId10"/>
    <p:sldId id="259" r:id="rId11"/>
    <p:sldId id="260" r:id="rId12"/>
    <p:sldId id="261" r:id="rId13"/>
    <p:sldId id="258" r:id="rId14"/>
    <p:sldId id="256" r:id="rId15"/>
    <p:sldId id="25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6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2C23C-4900-4780-93E6-969CBF6CA78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96CA1-07D3-4CC3-B1C5-32B5808BB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141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B96CA1-07D3-4CC3-B1C5-32B5808BBDB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00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__,Microsoft, Alibaba</a:t>
            </a:r>
          </a:p>
          <a:p>
            <a:r>
              <a:rPr lang="en-US" dirty="0"/>
              <a:t>Meta, Apache, Google</a:t>
            </a:r>
            <a:br>
              <a:rPr lang="en-US" dirty="0"/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B96CA1-07D3-4CC3-B1C5-32B5808BBDB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747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D4580-2B0A-2446-B074-312B4D626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CDCFBF-897F-134C-9689-0317C57A6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E58564-D6ED-8B1E-F27F-970EC0242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__,Microsoft, Alibaba</a:t>
            </a:r>
          </a:p>
          <a:p>
            <a:r>
              <a:rPr lang="en-US" dirty="0"/>
              <a:t>Meta, Apache, Google</a:t>
            </a:r>
            <a:br>
              <a:rPr lang="en-US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14057-6A8C-8A27-5707-3ADF21AC9D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B96CA1-07D3-4CC3-B1C5-32B5808BBDB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369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74222-47F3-234B-D4EC-F2F1EB018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CAD37D-E94E-4A24-6A65-AAD71964F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66219-E71D-7B68-2492-7CEF92128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8AA1-B4F3-443E-A869-33FFA6D6D37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117AB-375A-3260-83E1-6F1399451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34472-2319-C108-67A3-35D52F4D6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B39-D97F-4225-992C-EA95890A0C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169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8CF80-01DB-9815-3CD0-E34315989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B290C-C3E1-8CC9-D19A-9ABEAEEFB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981EE-DDD8-D622-488B-D55D17E40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8AA1-B4F3-443E-A869-33FFA6D6D37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68595-5A1C-CBFC-73A3-44FD6FC54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A71C6-3BB9-D905-2379-011C918EE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B39-D97F-4225-992C-EA95890A0C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143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5E8F4-FF9D-41A9-4C4D-E53AE1E5A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A5E0D-7826-C207-8643-61CC22F03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463EA-4831-B6A6-EE68-E327F550B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8AA1-B4F3-443E-A869-33FFA6D6D37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29207-909F-CFF7-0D9D-3C8ECF3C9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79704-21AA-31EE-518C-E7FAAD29D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B39-D97F-4225-992C-EA95890A0C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77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0F970-CB93-073F-75E5-AF56B3024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DB8F2-F17E-B86E-58C4-A0A93B92B3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7F4651-1751-6E3A-ACE5-BA8EE0F5D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2FCBA-1CEB-D407-668C-A14107073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8AA1-B4F3-443E-A869-33FFA6D6D37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492C04-ADCF-5C22-E797-B09A71D8A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EDCA98-8402-D02A-6BCA-F4884722B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B39-D97F-4225-992C-EA95890A0C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12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3E477-9901-D3B5-5843-F6D513495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B4D25-A91C-DC09-7E08-2A1DC0A52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3A7104-7177-A613-1C23-1C525764BE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B9109F-6C5E-821B-9240-16893486F4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3C4B2A-5DF4-A756-4318-1B5C69EC8C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C7B77A-71F0-B418-7BE8-C37798034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8AA1-B4F3-443E-A869-33FFA6D6D37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2E81BA-BF54-0B60-FC79-CE9DF5174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196664-66AE-3AE1-AF7F-3891EBB7D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B39-D97F-4225-992C-EA95890A0C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913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1153E-90BD-D518-1758-05B952998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A314C4-EAC5-487C-DDF7-5B8195089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8AA1-B4F3-443E-A869-33FFA6D6D37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2ADFA8-E0C3-BFF3-B3DE-B787C1448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8225DC-3E2C-2E96-3A21-73559B32D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B39-D97F-4225-992C-EA95890A0C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527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5A6B5B-FFCF-FECD-F897-1F09ED782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8AA1-B4F3-443E-A869-33FFA6D6D37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8F4F6B-7C94-560A-D83B-8B43173DD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81615-561C-950D-0FF3-B3A19D8C8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B39-D97F-4225-992C-EA95890A0C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298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4000B-4B2F-3C2A-8799-2F472D082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9298F-6995-DB52-544A-53C4EBF2D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4C5601-9F66-4DFE-A06D-FBFC05470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58191-8EEE-0107-C11B-B6B269816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8AA1-B4F3-443E-A869-33FFA6D6D37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3D184-05E7-6602-C996-1DFD9EF6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B9F5B-2E0E-C4C1-5213-60300D0C9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B39-D97F-4225-992C-EA95890A0C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085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47913-F0A8-8BFF-A7B0-9B6AAEBA0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7C639F-4A73-ED62-BD7D-EFE24963D5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CA23C-11E6-4894-57E3-194D25835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F81D6-5EC2-8646-B7E2-81B2601E8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8AA1-B4F3-443E-A869-33FFA6D6D37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5681B3-AEB7-4EC2-D093-B9ED295C7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B8222-3BD2-5D5B-AE54-2E9DB83E4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B39-D97F-4225-992C-EA95890A0C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940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DC987-80E6-C208-E5EF-94B09BAD6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761670-26CE-E17E-09B6-30C45E10F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24204-F857-A949-C3F0-9742F24C5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8AA1-B4F3-443E-A869-33FFA6D6D37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7489B-6080-DD75-D0A3-4A478E17C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D2EA1-630B-C7C9-99EF-B0275B0D1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B39-D97F-4225-992C-EA95890A0C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42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CF8755-5FAD-9C0D-C9F6-A9C9A235E3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C45597-EE81-36FB-6606-B2A065A98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25548-E0AD-6EF3-E78A-D49537921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8AA1-B4F3-443E-A869-33FFA6D6D37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510A1-43C2-7E80-0029-5E2142EC1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76654-5C22-DAFB-5A55-EE838D569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B39-D97F-4225-992C-EA95890A0C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685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7403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2762F9-95A3-1431-96F0-BBAB67D00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06FEB-8D9B-3EEF-6DEB-BC3675CB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3FC4C-290D-3035-D1CC-E56D9F471B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618AA1-B4F3-443E-A869-33FFA6D6D37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B107F-B8DB-6EA7-417A-7231403D50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F206A-6816-8CF0-C02E-E29A1EE2B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44DB39-D97F-4225-992C-EA95890A0C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524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83982-9025-A22E-73A8-6709F88E3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100"/>
            <a:ext cx="10515600" cy="69557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Recall and Precision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4C1FB2-163C-706A-BD87-74E70671F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71017"/>
            <a:ext cx="5157787" cy="33832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Recall	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B4249-2AAC-D1DA-F4D0-C668F34041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73353"/>
            <a:ext cx="5157787" cy="3803904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err="1"/>
              <a:t>Recall@K</a:t>
            </a:r>
            <a:r>
              <a:rPr lang="en-US" b="1" dirty="0"/>
              <a:t>: what it means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Did the system find the right answer within its top K results?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each query: if the correct document appears in top-K  -&gt; hit, else -&gt; miss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Recall@K</a:t>
            </a:r>
            <a:r>
              <a:rPr lang="en-US" dirty="0"/>
              <a:t> = total hits / total queries</a:t>
            </a:r>
          </a:p>
          <a:p>
            <a:pPr>
              <a:buNone/>
            </a:pPr>
            <a:r>
              <a:rPr lang="en-US" b="1" dirty="0"/>
              <a:t>How this project computes it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query and its expected answer are embedded into the same vector space using CLIP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top-K vectors retrieved from the database are compared against the answer embedding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any retrieved vector is semantically close enough to the expected answer -&gt; counted as a hit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captures the same idea: did the retrieval surface something equivalent to the correct answer?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773CF9-887B-4BB7-E6B9-CC3C6686CD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1928" y="1271017"/>
            <a:ext cx="5183188" cy="33832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Precision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6D3CAA-153D-3201-B715-88DF169F5A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1928" y="1682497"/>
            <a:ext cx="5183188" cy="3803904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err="1"/>
              <a:t>Precision@K</a:t>
            </a:r>
            <a:r>
              <a:rPr lang="en-US" b="1" dirty="0"/>
              <a:t>: what it means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 everything the system retrieved, how much of it was actually relevant?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each query: relevant results in top-K / total results in top-K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Precision@K</a:t>
            </a:r>
            <a:r>
              <a:rPr lang="en-US" dirty="0"/>
              <a:t> = relevant hits / K</a:t>
            </a:r>
          </a:p>
          <a:p>
            <a:pPr>
              <a:buNone/>
            </a:pPr>
            <a:r>
              <a:rPr lang="en-US" b="1" dirty="0"/>
              <a:t>How this project computes it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Every retrieved vector is compared against the answer embedding using cosine similarity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vector scoring above the threshold is counted as relevant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Precision = relevant vectors / total retrieved vectors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captures the same idea: out of everything surfaced, how much of it was actually useful?</a:t>
            </a:r>
          </a:p>
          <a:p>
            <a:endParaRPr lang="en-IN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7C81CAE-0601-3FFB-1E94-41F1E7088DF8}"/>
              </a:ext>
            </a:extLst>
          </p:cNvPr>
          <p:cNvSpPr txBox="1">
            <a:spLocks/>
          </p:cNvSpPr>
          <p:nvPr/>
        </p:nvSpPr>
        <p:spPr>
          <a:xfrm>
            <a:off x="6304156" y="5586982"/>
            <a:ext cx="5157787" cy="3383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0" dirty="0"/>
              <a:t>Precision asks: </a:t>
            </a:r>
            <a:r>
              <a:rPr lang="en-US" sz="1400" b="0" i="1" dirty="0"/>
              <a:t>was what we returned worth returning?</a:t>
            </a:r>
            <a:endParaRPr lang="en-IN" sz="1400" b="0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8ED6B19-9479-E3F0-5E58-4109FAC6FE10}"/>
              </a:ext>
            </a:extLst>
          </p:cNvPr>
          <p:cNvSpPr txBox="1">
            <a:spLocks/>
          </p:cNvSpPr>
          <p:nvPr/>
        </p:nvSpPr>
        <p:spPr>
          <a:xfrm>
            <a:off x="839787" y="5586983"/>
            <a:ext cx="5157787" cy="3383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0" dirty="0"/>
              <a:t>Recall asks: </a:t>
            </a:r>
            <a:r>
              <a:rPr lang="en-US" sz="1400" b="0" i="1" dirty="0"/>
              <a:t>did we find the right answer?</a:t>
            </a:r>
            <a:endParaRPr lang="en-IN" sz="1400" b="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3F428CF0-5983-8B40-310C-59AC62591B7A}"/>
              </a:ext>
            </a:extLst>
          </p:cNvPr>
          <p:cNvSpPr/>
          <p:nvPr/>
        </p:nvSpPr>
        <p:spPr>
          <a:xfrm>
            <a:off x="448198" y="1154129"/>
            <a:ext cx="5486400" cy="5100367"/>
          </a:xfrm>
          <a:prstGeom prst="rect">
            <a:avLst/>
          </a:prstGeom>
          <a:noFill/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FD8789E8-7387-BCFE-6BFF-D5D946068E0A}"/>
              </a:ext>
            </a:extLst>
          </p:cNvPr>
          <p:cNvSpPr/>
          <p:nvPr/>
        </p:nvSpPr>
        <p:spPr>
          <a:xfrm>
            <a:off x="347614" y="1154129"/>
            <a:ext cx="94275" cy="5100367"/>
          </a:xfrm>
          <a:prstGeom prst="rect">
            <a:avLst/>
          </a:prstGeom>
          <a:noFill/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" name="Shape 24">
            <a:extLst>
              <a:ext uri="{FF2B5EF4-FFF2-40B4-BE49-F238E27FC236}">
                <a16:creationId xmlns:a16="http://schemas.microsoft.com/office/drawing/2014/main" id="{27CED385-56E0-C2DE-DB21-4475AE243084}"/>
              </a:ext>
            </a:extLst>
          </p:cNvPr>
          <p:cNvSpPr/>
          <p:nvPr/>
        </p:nvSpPr>
        <p:spPr>
          <a:xfrm>
            <a:off x="6160789" y="1162558"/>
            <a:ext cx="5486400" cy="5100367"/>
          </a:xfrm>
          <a:prstGeom prst="rect">
            <a:avLst/>
          </a:prstGeom>
          <a:noFill/>
          <a:ln w="12700">
            <a:solidFill>
              <a:srgbClr val="4EA8D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C94EBB64-591A-F38E-307B-AAD71E7FA342}"/>
              </a:ext>
            </a:extLst>
          </p:cNvPr>
          <p:cNvSpPr/>
          <p:nvPr/>
        </p:nvSpPr>
        <p:spPr>
          <a:xfrm>
            <a:off x="6096781" y="1162558"/>
            <a:ext cx="73152" cy="5100367"/>
          </a:xfrm>
          <a:prstGeom prst="rect">
            <a:avLst/>
          </a:prstGeom>
          <a:noFill/>
          <a:ln w="12700">
            <a:solidFill>
              <a:srgbClr val="4EA8DE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F99154B4-7FB9-0F13-D48C-735ED9D858E4}"/>
              </a:ext>
            </a:extLst>
          </p:cNvPr>
          <p:cNvSpPr/>
          <p:nvPr/>
        </p:nvSpPr>
        <p:spPr>
          <a:xfrm>
            <a:off x="0" y="670560"/>
            <a:ext cx="12192000" cy="853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15C490A2-0D1F-9FA4-A716-19CF45DD84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15 April 2026</a:t>
            </a:r>
          </a:p>
        </p:txBody>
      </p:sp>
    </p:spTree>
    <p:extLst>
      <p:ext uri="{BB962C8B-B14F-4D97-AF65-F5344CB8AC3E}">
        <p14:creationId xmlns:p14="http://schemas.microsoft.com/office/powerpoint/2010/main" val="434065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0DC21F6-12B2-2FDB-8974-D6DBFC965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720281"/>
              </p:ext>
            </p:extLst>
          </p:nvPr>
        </p:nvGraphicFramePr>
        <p:xfrm>
          <a:off x="2722626" y="1301337"/>
          <a:ext cx="6746748" cy="3076956"/>
        </p:xfrm>
        <a:graphic>
          <a:graphicData uri="http://schemas.openxmlformats.org/drawingml/2006/table">
            <a:tbl>
              <a:tblPr firstRow="1" bandRow="1"/>
              <a:tblGrid>
                <a:gridCol w="1686687">
                  <a:extLst>
                    <a:ext uri="{9D8B030D-6E8A-4147-A177-3AD203B41FA5}">
                      <a16:colId xmlns:a16="http://schemas.microsoft.com/office/drawing/2014/main" val="433176585"/>
                    </a:ext>
                  </a:extLst>
                </a:gridCol>
                <a:gridCol w="1686687">
                  <a:extLst>
                    <a:ext uri="{9D8B030D-6E8A-4147-A177-3AD203B41FA5}">
                      <a16:colId xmlns:a16="http://schemas.microsoft.com/office/drawing/2014/main" val="3118923515"/>
                    </a:ext>
                  </a:extLst>
                </a:gridCol>
                <a:gridCol w="1686687">
                  <a:extLst>
                    <a:ext uri="{9D8B030D-6E8A-4147-A177-3AD203B41FA5}">
                      <a16:colId xmlns:a16="http://schemas.microsoft.com/office/drawing/2014/main" val="3906270953"/>
                    </a:ext>
                  </a:extLst>
                </a:gridCol>
                <a:gridCol w="1686687">
                  <a:extLst>
                    <a:ext uri="{9D8B030D-6E8A-4147-A177-3AD203B41FA5}">
                      <a16:colId xmlns:a16="http://schemas.microsoft.com/office/drawing/2014/main" val="881140135"/>
                    </a:ext>
                  </a:extLst>
                </a:gridCol>
              </a:tblGrid>
              <a:tr h="621411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en-US" sz="18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Database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en-US" sz="1800" b="1" i="0" u="none" strike="noStrike" kern="120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Index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en-US" sz="18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Recall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en-US" sz="18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Precision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373620"/>
                  </a:ext>
                </a:extLst>
              </a:tr>
              <a:tr h="491109">
                <a:tc>
                  <a:txBody>
                    <a:bodyPr/>
                    <a:lstStyle/>
                    <a:p>
                      <a:pPr marL="0" indent="0" algn="l" rtl="0" eaLnBrk="1" fontAlgn="ctr" latinLnBrk="0" hangingPunct="1">
                        <a:buNone/>
                      </a:pPr>
                      <a:r>
                        <a:rPr lang="en-US" sz="1600" b="1" i="0" u="none" strike="noStrike" kern="1200">
                          <a:solidFill>
                            <a:srgbClr val="0E6073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Milvus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ctr" latinLnBrk="0" hangingPunct="1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1A1A1A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HNSW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ctr" latinLnBrk="0" hangingPunct="1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1A1A1A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0.922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ctr" latinLnBrk="0" hangingPunct="1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1A1A1A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0.312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747781"/>
                  </a:ext>
                </a:extLst>
              </a:tr>
              <a:tr h="491109">
                <a:tc>
                  <a:txBody>
                    <a:bodyPr/>
                    <a:lstStyle/>
                    <a:p>
                      <a:pPr marL="0" indent="0" algn="l" rtl="0" eaLnBrk="1" fontAlgn="ctr" latinLnBrk="0" hangingPunct="1">
                        <a:buNone/>
                      </a:pPr>
                      <a:r>
                        <a:rPr lang="en-US" sz="1600" b="1" i="0" u="none" strike="noStrike" kern="1200">
                          <a:solidFill>
                            <a:srgbClr val="0E6073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Milvus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ctr" latinLnBrk="0" hangingPunct="1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1A1A1A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DiskANN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ctr" latinLnBrk="0" hangingPunct="1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1A1A1A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0.907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ctr" latinLnBrk="0" hangingPunct="1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1A1A1A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0.327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856470"/>
                  </a:ext>
                </a:extLst>
              </a:tr>
              <a:tr h="491109">
                <a:tc>
                  <a:txBody>
                    <a:bodyPr/>
                    <a:lstStyle/>
                    <a:p>
                      <a:pPr marL="0" indent="0" algn="l" rtl="0" eaLnBrk="1" fontAlgn="ctr" latinLnBrk="0" hangingPunct="1">
                        <a:buNone/>
                      </a:pPr>
                      <a:r>
                        <a:rPr lang="en-US" sz="1600" b="1" i="0" u="none" strike="noStrike" kern="1200">
                          <a:solidFill>
                            <a:srgbClr val="0E6073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Milvus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ctr" latinLnBrk="0" hangingPunct="1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1A1A1A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IVF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ctr" latinLnBrk="0" hangingPunct="1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1A1A1A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0.919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ctr" latinLnBrk="0" hangingPunct="1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1A1A1A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0.302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652184"/>
                  </a:ext>
                </a:extLst>
              </a:tr>
              <a:tr h="491109">
                <a:tc>
                  <a:txBody>
                    <a:bodyPr/>
                    <a:lstStyle/>
                    <a:p>
                      <a:pPr marL="0" indent="0" algn="l" rtl="0" eaLnBrk="1" fontAlgn="ctr" latinLnBrk="0" hangingPunct="1">
                        <a:buNone/>
                      </a:pPr>
                      <a:r>
                        <a:rPr lang="en-US" sz="1600" b="1" i="0" u="none" strike="noStrike" kern="1200">
                          <a:solidFill>
                            <a:srgbClr val="0E6073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Qdrant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ctr" latinLnBrk="0" hangingPunct="1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1A1A1A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HNSW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ctr" latinLnBrk="0" hangingPunct="1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0.923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ctr" latinLnBrk="0" hangingPunct="1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0.299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111764"/>
                  </a:ext>
                </a:extLst>
              </a:tr>
              <a:tr h="491109">
                <a:tc>
                  <a:txBody>
                    <a:bodyPr/>
                    <a:lstStyle/>
                    <a:p>
                      <a:pPr marL="0" indent="0" algn="l" rtl="0" eaLnBrk="1" fontAlgn="ctr" latinLnBrk="0" hangingPunct="1">
                        <a:buNone/>
                      </a:pPr>
                      <a:r>
                        <a:rPr lang="en-US" sz="1600" b="1" i="0" u="none" strike="noStrike" kern="1200">
                          <a:solidFill>
                            <a:srgbClr val="0E6073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Chroma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ctr" latinLnBrk="0" hangingPunct="1">
                        <a:buNone/>
                      </a:pPr>
                      <a:r>
                        <a:rPr lang="en-US" sz="1600" b="0" i="0" u="none" strike="noStrike" kern="1200">
                          <a:solidFill>
                            <a:srgbClr val="1A1A1A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HNSW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ctr" latinLnBrk="0" hangingPunct="1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1A1A1A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0.931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ctr" latinLnBrk="0" hangingPunct="1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1A1A1A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0.316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396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F8DBEBC-7D49-3A40-7E79-FBD9D220F85D}"/>
              </a:ext>
            </a:extLst>
          </p:cNvPr>
          <p:cNvSpPr txBox="1"/>
          <p:nvPr/>
        </p:nvSpPr>
        <p:spPr>
          <a:xfrm>
            <a:off x="1607058" y="4782316"/>
            <a:ext cx="84879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 of queries: 1000</a:t>
            </a:r>
          </a:p>
          <a:p>
            <a:r>
              <a:rPr lang="en-US" dirty="0"/>
              <a:t>Recall: Did the system find the right answer within its top K results?</a:t>
            </a:r>
          </a:p>
          <a:p>
            <a:r>
              <a:rPr lang="en-US" dirty="0"/>
              <a:t>Precision: Of everything the system retrieved, how much of it was actually relevant?</a:t>
            </a:r>
          </a:p>
        </p:txBody>
      </p:sp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7EE45286-0A8B-CF23-106A-54A4034731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15 April 2026</a:t>
            </a:r>
          </a:p>
        </p:txBody>
      </p:sp>
    </p:spTree>
    <p:extLst>
      <p:ext uri="{BB962C8B-B14F-4D97-AF65-F5344CB8AC3E}">
        <p14:creationId xmlns:p14="http://schemas.microsoft.com/office/powerpoint/2010/main" val="943028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chemeClr val="bg1"/>
          </a:solidFill>
          <a:ln w="12700">
            <a:solidFill>
              <a:srgbClr val="091420"/>
            </a:solidFill>
            <a:prstDash val="solid"/>
          </a:ln>
        </p:spPr>
        <p:txBody>
          <a:bodyPr/>
          <a:lstStyle/>
          <a:p>
            <a:endParaRPr lang="en-IN" sz="240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70560"/>
            <a:ext cx="12192000" cy="853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" name="Text 3"/>
          <p:cNvSpPr/>
          <p:nvPr/>
        </p:nvSpPr>
        <p:spPr>
          <a:xfrm>
            <a:off x="426720" y="170688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/>
              <a:t>DuckDB Integration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67232" y="926592"/>
            <a:ext cx="3790879" cy="2169535"/>
          </a:xfrm>
          <a:prstGeom prst="rect">
            <a:avLst/>
          </a:prstGeom>
          <a:solidFill>
            <a:schemeClr val="bg1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7" name="Shape 5"/>
          <p:cNvSpPr/>
          <p:nvPr/>
        </p:nvSpPr>
        <p:spPr>
          <a:xfrm>
            <a:off x="267232" y="926592"/>
            <a:ext cx="68925" cy="2169535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8" name="Text 6"/>
          <p:cNvSpPr/>
          <p:nvPr/>
        </p:nvSpPr>
        <p:spPr>
          <a:xfrm>
            <a:off x="450112" y="963169"/>
            <a:ext cx="3446254" cy="144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9A7"/>
                </a:solidFill>
              </a:rPr>
              <a:t>What Was Done</a:t>
            </a:r>
            <a:endParaRPr lang="en-US" sz="1467" dirty="0"/>
          </a:p>
        </p:txBody>
      </p:sp>
      <p:sp>
        <p:nvSpPr>
          <p:cNvPr id="9" name="Text 7"/>
          <p:cNvSpPr/>
          <p:nvPr/>
        </p:nvSpPr>
        <p:spPr>
          <a:xfrm>
            <a:off x="419632" y="1213781"/>
            <a:ext cx="3503691" cy="1832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933"/>
              </a:spcAft>
              <a:buSzPct val="100000"/>
              <a:buChar char="•"/>
            </a:pPr>
            <a:r>
              <a:rPr lang="en-US" sz="1200" dirty="0"/>
              <a:t>Connected pipeline to DuckDB</a:t>
            </a:r>
          </a:p>
          <a:p>
            <a:pPr marL="457189" indent="-457189">
              <a:spcAft>
                <a:spcPts val="933"/>
              </a:spcAft>
              <a:buSzPct val="100000"/>
              <a:buChar char="•"/>
            </a:pPr>
            <a:r>
              <a:rPr lang="en-US" sz="1200" dirty="0"/>
              <a:t>Chunks stored in the </a:t>
            </a:r>
            <a:r>
              <a:rPr lang="en-US" sz="1200" dirty="0" err="1"/>
              <a:t>db</a:t>
            </a:r>
            <a:r>
              <a:rPr lang="en-US" sz="1200" dirty="0"/>
              <a:t> </a:t>
            </a:r>
            <a:br>
              <a:rPr lang="en-US" sz="1200" dirty="0"/>
            </a:br>
            <a:r>
              <a:rPr lang="en-US" sz="1200" dirty="0"/>
              <a:t>(both image and text)</a:t>
            </a:r>
          </a:p>
          <a:p>
            <a:pPr marL="457189" indent="-457189">
              <a:spcAft>
                <a:spcPts val="933"/>
              </a:spcAft>
              <a:buSzPct val="100000"/>
              <a:buChar char="•"/>
            </a:pPr>
            <a:r>
              <a:rPr lang="en-US" sz="1200" dirty="0"/>
              <a:t>Embeddings saved to filesystem so they can be reused for all </a:t>
            </a:r>
            <a:r>
              <a:rPr lang="en-US" sz="1200" dirty="0" err="1"/>
              <a:t>vdb</a:t>
            </a:r>
            <a:r>
              <a:rPr lang="en-US" sz="1200" dirty="0"/>
              <a:t> which  reduces total time to align with latency</a:t>
            </a:r>
          </a:p>
          <a:p>
            <a:pPr marL="457189" indent="-457189">
              <a:buSzPct val="100000"/>
              <a:buChar char="•"/>
            </a:pPr>
            <a:r>
              <a:rPr lang="en-US" sz="1200" dirty="0"/>
              <a:t>Separate results DB created for run-level benchmarking metrics</a:t>
            </a:r>
          </a:p>
        </p:txBody>
      </p:sp>
      <p:sp>
        <p:nvSpPr>
          <p:cNvPr id="66" name="Text 8">
            <a:extLst>
              <a:ext uri="{FF2B5EF4-FFF2-40B4-BE49-F238E27FC236}">
                <a16:creationId xmlns:a16="http://schemas.microsoft.com/office/drawing/2014/main" id="{14553132-3DE2-0FAC-8801-78C5B50F55BE}"/>
              </a:ext>
            </a:extLst>
          </p:cNvPr>
          <p:cNvSpPr/>
          <p:nvPr/>
        </p:nvSpPr>
        <p:spPr>
          <a:xfrm>
            <a:off x="4880628" y="840019"/>
            <a:ext cx="2911951" cy="34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EA8DE"/>
                </a:solidFill>
              </a:rPr>
              <a:t>chunks table</a:t>
            </a:r>
            <a:endParaRPr lang="en-US" sz="1500" dirty="0"/>
          </a:p>
        </p:txBody>
      </p:sp>
      <p:graphicFrame>
        <p:nvGraphicFramePr>
          <p:cNvPr id="67" name="Table 0">
            <a:extLst>
              <a:ext uri="{FF2B5EF4-FFF2-40B4-BE49-F238E27FC236}">
                <a16:creationId xmlns:a16="http://schemas.microsoft.com/office/drawing/2014/main" id="{B075D614-885B-D3D9-2221-3A75A2CFDA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055222"/>
              </p:ext>
            </p:extLst>
          </p:nvPr>
        </p:nvGraphicFramePr>
        <p:xfrm>
          <a:off x="4880628" y="1178348"/>
          <a:ext cx="2911951" cy="1542924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663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7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1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Column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chunk_id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doc_id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image_path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8" name="Text 9">
            <a:extLst>
              <a:ext uri="{FF2B5EF4-FFF2-40B4-BE49-F238E27FC236}">
                <a16:creationId xmlns:a16="http://schemas.microsoft.com/office/drawing/2014/main" id="{FE0419AC-DAD4-1CF6-4861-28A3859BCA93}"/>
              </a:ext>
            </a:extLst>
          </p:cNvPr>
          <p:cNvSpPr/>
          <p:nvPr/>
        </p:nvSpPr>
        <p:spPr>
          <a:xfrm>
            <a:off x="8511292" y="741136"/>
            <a:ext cx="2412378" cy="251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</a:rPr>
              <a:t>results table</a:t>
            </a:r>
            <a:endParaRPr lang="en-US" sz="1500" dirty="0"/>
          </a:p>
        </p:txBody>
      </p:sp>
      <p:graphicFrame>
        <p:nvGraphicFramePr>
          <p:cNvPr id="69" name="Table 1">
            <a:extLst>
              <a:ext uri="{FF2B5EF4-FFF2-40B4-BE49-F238E27FC236}">
                <a16:creationId xmlns:a16="http://schemas.microsoft.com/office/drawing/2014/main" id="{BCD257EA-F29C-B4C8-98CF-4F4B65A2D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460878"/>
              </p:ext>
            </p:extLst>
          </p:nvPr>
        </p:nvGraphicFramePr>
        <p:xfrm>
          <a:off x="8417442" y="1062049"/>
          <a:ext cx="2982078" cy="2226294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704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3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Column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3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run_id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TIMESTAMP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db_name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3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index_type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3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3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total_time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DOUBLE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3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avg_latency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DOUBLE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3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DOUBLE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73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recall_k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DOUBLE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71" name="Picture 70">
            <a:extLst>
              <a:ext uri="{FF2B5EF4-FFF2-40B4-BE49-F238E27FC236}">
                <a16:creationId xmlns:a16="http://schemas.microsoft.com/office/drawing/2014/main" id="{225C4C06-167E-6BB0-668E-6B73C70E0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454" y="3357263"/>
            <a:ext cx="9461060" cy="33815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8EC41552-0643-DC64-B3E0-611232706A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08 April 2026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42C39CA1-9998-570E-57D0-BA769E1514C4}"/>
              </a:ext>
            </a:extLst>
          </p:cNvPr>
          <p:cNvSpPr/>
          <p:nvPr/>
        </p:nvSpPr>
        <p:spPr>
          <a:xfrm>
            <a:off x="384190" y="861521"/>
            <a:ext cx="5608320" cy="5262832"/>
          </a:xfrm>
          <a:prstGeom prst="rect">
            <a:avLst/>
          </a:prstGeom>
          <a:solidFill>
            <a:schemeClr val="bg1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31ABA78-A785-4B7F-1389-294CD6778D0D}"/>
              </a:ext>
            </a:extLst>
          </p:cNvPr>
          <p:cNvSpPr/>
          <p:nvPr/>
        </p:nvSpPr>
        <p:spPr>
          <a:xfrm>
            <a:off x="384190" y="861521"/>
            <a:ext cx="94275" cy="5262832"/>
          </a:xfrm>
          <a:prstGeom prst="rect">
            <a:avLst/>
          </a:prstGeom>
          <a:solidFill>
            <a:schemeClr val="bg1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FDB16486-DB7E-4392-840E-ED660D239E1A}"/>
              </a:ext>
            </a:extLst>
          </p:cNvPr>
          <p:cNvSpPr/>
          <p:nvPr/>
        </p:nvSpPr>
        <p:spPr>
          <a:xfrm>
            <a:off x="567070" y="898097"/>
            <a:ext cx="512064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C9A7"/>
                </a:solidFill>
              </a:rPr>
              <a:t>Why DuckDB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566394-D230-DC24-E7CC-DB9F9379AB9B}"/>
              </a:ext>
            </a:extLst>
          </p:cNvPr>
          <p:cNvSpPr txBox="1"/>
          <p:nvPr/>
        </p:nvSpPr>
        <p:spPr>
          <a:xfrm>
            <a:off x="683320" y="1492085"/>
            <a:ext cx="500439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Zero server setup:  Single file, runs on HPC without any daemon or container.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Fast analytical queries across benchmark runs.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Scales with dataset: Handles millions of rows as vectors grow to 1M+ vectors.</a:t>
            </a:r>
          </a:p>
          <a:p>
            <a:endParaRPr lang="en-US" sz="2000" dirty="0"/>
          </a:p>
          <a:p>
            <a:r>
              <a:rPr lang="en-US" sz="2000" dirty="0"/>
              <a:t>Redis : in-memory, eats RAM at large scale, needs a server    </a:t>
            </a:r>
            <a:br>
              <a:rPr lang="en-US" sz="2000" dirty="0"/>
            </a:br>
            <a:r>
              <a:rPr lang="en-US" sz="2000" dirty="0" err="1"/>
              <a:t>MinIO</a:t>
            </a:r>
            <a:r>
              <a:rPr lang="en-US" sz="2000" dirty="0"/>
              <a:t> : object storage not row storage, overkill here     </a:t>
            </a:r>
          </a:p>
          <a:p>
            <a:r>
              <a:rPr lang="en-US" sz="2000" dirty="0" err="1"/>
              <a:t>RocksDB</a:t>
            </a:r>
            <a:r>
              <a:rPr lang="en-US" sz="2000" dirty="0"/>
              <a:t> : no SQL, cannot run analytical queries</a:t>
            </a:r>
          </a:p>
          <a:p>
            <a:endParaRPr lang="en-IN" sz="2000" dirty="0"/>
          </a:p>
        </p:txBody>
      </p:sp>
      <p:sp>
        <p:nvSpPr>
          <p:cNvPr id="11" name="Shape 24">
            <a:extLst>
              <a:ext uri="{FF2B5EF4-FFF2-40B4-BE49-F238E27FC236}">
                <a16:creationId xmlns:a16="http://schemas.microsoft.com/office/drawing/2014/main" id="{71DBB3A1-6092-BCB0-6411-00243C7E4B06}"/>
              </a:ext>
            </a:extLst>
          </p:cNvPr>
          <p:cNvSpPr/>
          <p:nvPr/>
        </p:nvSpPr>
        <p:spPr>
          <a:xfrm>
            <a:off x="6197365" y="869950"/>
            <a:ext cx="5486400" cy="5262832"/>
          </a:xfrm>
          <a:prstGeom prst="rect">
            <a:avLst/>
          </a:prstGeom>
          <a:solidFill>
            <a:schemeClr val="bg1"/>
          </a:solidFill>
          <a:ln w="12700">
            <a:solidFill>
              <a:srgbClr val="4EA8D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97A9481C-B5DC-817B-5F0B-89F47AA9D692}"/>
              </a:ext>
            </a:extLst>
          </p:cNvPr>
          <p:cNvSpPr/>
          <p:nvPr/>
        </p:nvSpPr>
        <p:spPr>
          <a:xfrm>
            <a:off x="6197365" y="869950"/>
            <a:ext cx="73152" cy="5262832"/>
          </a:xfrm>
          <a:prstGeom prst="rect">
            <a:avLst/>
          </a:prstGeom>
          <a:solidFill>
            <a:schemeClr val="bg1"/>
          </a:solidFill>
          <a:ln w="12700">
            <a:solidFill>
              <a:srgbClr val="4EA8DE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3" name="Text 26">
            <a:extLst>
              <a:ext uri="{FF2B5EF4-FFF2-40B4-BE49-F238E27FC236}">
                <a16:creationId xmlns:a16="http://schemas.microsoft.com/office/drawing/2014/main" id="{6F7DDB64-355E-582E-A40A-89337D7B885D}"/>
              </a:ext>
            </a:extLst>
          </p:cNvPr>
          <p:cNvSpPr/>
          <p:nvPr/>
        </p:nvSpPr>
        <p:spPr>
          <a:xfrm>
            <a:off x="6407890" y="898097"/>
            <a:ext cx="499872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4EA8DE"/>
                </a:solidFill>
              </a:rPr>
              <a:t>Latency Percentiles Added</a:t>
            </a:r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0A3D48-D99E-BA87-ABF7-27875581E0A0}"/>
              </a:ext>
            </a:extLst>
          </p:cNvPr>
          <p:cNvSpPr txBox="1"/>
          <p:nvPr/>
        </p:nvSpPr>
        <p:spPr>
          <a:xfrm>
            <a:off x="6560288" y="1492085"/>
            <a:ext cx="46477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Previously only </a:t>
            </a:r>
            <a:r>
              <a:rPr lang="en-US" dirty="0" err="1"/>
              <a:t>avg_latency</a:t>
            </a:r>
            <a:r>
              <a:rPr lang="en-US" dirty="0"/>
              <a:t> was stored. Averages may hide spikes and give a false picture under load.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p50 (Median): Typical query speed for a normal user.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p95 (95th percentile): Slow but not an extreme outlier.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p99 (Tail latency): Worst-case, matters most for real-world deployments.</a:t>
            </a:r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DE8D7E45-46C6-461E-A0F0-CB1301785DBF}"/>
              </a:ext>
            </a:extLst>
          </p:cNvPr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chemeClr val="bg1"/>
          </a:solidFill>
          <a:ln w="12700">
            <a:solidFill>
              <a:srgbClr val="091420"/>
            </a:solidFill>
            <a:prstDash val="solid"/>
          </a:ln>
        </p:spPr>
        <p:txBody>
          <a:bodyPr/>
          <a:lstStyle/>
          <a:p>
            <a:endParaRPr lang="en-IN" sz="2400">
              <a:solidFill>
                <a:schemeClr val="bg1"/>
              </a:solidFill>
            </a:endParaRP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08CCDE46-9322-5401-822E-936E3669557C}"/>
              </a:ext>
            </a:extLst>
          </p:cNvPr>
          <p:cNvSpPr/>
          <p:nvPr/>
        </p:nvSpPr>
        <p:spPr>
          <a:xfrm>
            <a:off x="0" y="670560"/>
            <a:ext cx="12192000" cy="853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AC12D814-EECD-4FCB-B873-D95F1DCA34C9}"/>
              </a:ext>
            </a:extLst>
          </p:cNvPr>
          <p:cNvSpPr/>
          <p:nvPr/>
        </p:nvSpPr>
        <p:spPr>
          <a:xfrm>
            <a:off x="426719" y="170688"/>
            <a:ext cx="11257045" cy="385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 err="1"/>
              <a:t>DuckDB</a:t>
            </a:r>
            <a:r>
              <a:rPr lang="en-US" sz="2400" b="1" dirty="0"/>
              <a:t> &amp; Latency Percentiles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11104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BF92B33-D570-F757-5453-C411BB4AE9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56" y="985814"/>
            <a:ext cx="12043144" cy="5701498"/>
          </a:xfrm>
          <a:prstGeom prst="rect">
            <a:avLst/>
          </a:prstGeom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94223F58-C77A-AAFD-8C79-E48B17A5940D}"/>
              </a:ext>
            </a:extLst>
          </p:cNvPr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chemeClr val="bg1"/>
          </a:solidFill>
          <a:ln w="12700">
            <a:solidFill>
              <a:srgbClr val="091420"/>
            </a:solidFill>
            <a:prstDash val="solid"/>
          </a:ln>
        </p:spPr>
        <p:txBody>
          <a:bodyPr/>
          <a:lstStyle/>
          <a:p>
            <a:endParaRPr lang="en-IN" sz="2400">
              <a:solidFill>
                <a:schemeClr val="bg1"/>
              </a:solidFill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8248EB00-3DA1-E12F-1BD1-07463C35FECE}"/>
              </a:ext>
            </a:extLst>
          </p:cNvPr>
          <p:cNvSpPr/>
          <p:nvPr/>
        </p:nvSpPr>
        <p:spPr>
          <a:xfrm>
            <a:off x="0" y="670560"/>
            <a:ext cx="12192000" cy="853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7E5D011-7B64-AFA2-B77F-8CA7C725CA65}"/>
              </a:ext>
            </a:extLst>
          </p:cNvPr>
          <p:cNvSpPr/>
          <p:nvPr/>
        </p:nvSpPr>
        <p:spPr>
          <a:xfrm>
            <a:off x="426719" y="170688"/>
            <a:ext cx="11257045" cy="385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 err="1"/>
              <a:t>Duckdb</a:t>
            </a:r>
            <a:r>
              <a:rPr lang="en-US" sz="2400" b="1" dirty="0"/>
              <a:t> added Architecture</a:t>
            </a:r>
            <a:endParaRPr lang="en-US" sz="2400" dirty="0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1C08B524-E34C-17E5-6F62-8687B04FB9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08 April 2026</a:t>
            </a:r>
          </a:p>
        </p:txBody>
      </p:sp>
    </p:spTree>
    <p:extLst>
      <p:ext uri="{BB962C8B-B14F-4D97-AF65-F5344CB8AC3E}">
        <p14:creationId xmlns:p14="http://schemas.microsoft.com/office/powerpoint/2010/main" val="2862431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chemeClr val="bg1"/>
          </a:solidFill>
          <a:ln w="12700">
            <a:solidFill>
              <a:srgbClr val="09142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" name="Shape 1"/>
          <p:cNvSpPr/>
          <p:nvPr/>
        </p:nvSpPr>
        <p:spPr>
          <a:xfrm>
            <a:off x="0" y="670560"/>
            <a:ext cx="12192000" cy="853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" name="Text 3"/>
          <p:cNvSpPr/>
          <p:nvPr/>
        </p:nvSpPr>
        <p:spPr>
          <a:xfrm>
            <a:off x="426720" y="6096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/>
              <a:t>In Progress &amp; Next Steps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26720" y="999744"/>
            <a:ext cx="6339840" cy="4821936"/>
          </a:xfrm>
          <a:prstGeom prst="rect">
            <a:avLst/>
          </a:prstGeom>
          <a:solidFill>
            <a:schemeClr val="bg1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7" name="Shape 5"/>
          <p:cNvSpPr/>
          <p:nvPr/>
        </p:nvSpPr>
        <p:spPr>
          <a:xfrm>
            <a:off x="426720" y="999744"/>
            <a:ext cx="73152" cy="48219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8" name="Shape 6"/>
          <p:cNvSpPr/>
          <p:nvPr/>
        </p:nvSpPr>
        <p:spPr>
          <a:xfrm>
            <a:off x="609600" y="1036320"/>
            <a:ext cx="1341120" cy="26822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9" name="Text 7"/>
          <p:cNvSpPr/>
          <p:nvPr/>
        </p:nvSpPr>
        <p:spPr>
          <a:xfrm>
            <a:off x="609600" y="1036320"/>
            <a:ext cx="13411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091420"/>
                </a:solidFill>
              </a:rPr>
              <a:t>IN PROGRESS</a:t>
            </a:r>
            <a:endParaRPr lang="en-US" sz="1067" dirty="0"/>
          </a:p>
        </p:txBody>
      </p:sp>
      <p:sp>
        <p:nvSpPr>
          <p:cNvPr id="10" name="Text 8"/>
          <p:cNvSpPr/>
          <p:nvPr/>
        </p:nvSpPr>
        <p:spPr>
          <a:xfrm>
            <a:off x="2133600" y="1036320"/>
            <a:ext cx="4328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/>
              <a:t>Adding Simple RAG Display</a:t>
            </a:r>
            <a:endParaRPr lang="en-US" sz="1733" dirty="0"/>
          </a:p>
        </p:txBody>
      </p:sp>
      <p:sp>
        <p:nvSpPr>
          <p:cNvPr id="28" name="Shape 26"/>
          <p:cNvSpPr/>
          <p:nvPr/>
        </p:nvSpPr>
        <p:spPr>
          <a:xfrm>
            <a:off x="7010400" y="999744"/>
            <a:ext cx="4754880" cy="4821936"/>
          </a:xfrm>
          <a:prstGeom prst="rect">
            <a:avLst/>
          </a:prstGeom>
          <a:solidFill>
            <a:schemeClr val="bg1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9" name="Shape 27"/>
          <p:cNvSpPr/>
          <p:nvPr/>
        </p:nvSpPr>
        <p:spPr>
          <a:xfrm>
            <a:off x="7010400" y="999744"/>
            <a:ext cx="73152" cy="482193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0" name="Text 28"/>
          <p:cNvSpPr/>
          <p:nvPr/>
        </p:nvSpPr>
        <p:spPr>
          <a:xfrm>
            <a:off x="7193280" y="1036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A78BFA"/>
                </a:solidFill>
              </a:rPr>
              <a:t>What's Next</a:t>
            </a:r>
            <a:endParaRPr lang="en-US" sz="1467" dirty="0"/>
          </a:p>
        </p:txBody>
      </p:sp>
      <p:sp>
        <p:nvSpPr>
          <p:cNvPr id="33" name="Text 31"/>
          <p:cNvSpPr/>
          <p:nvPr/>
        </p:nvSpPr>
        <p:spPr>
          <a:xfrm>
            <a:off x="7307618" y="1560575"/>
            <a:ext cx="4128478" cy="2968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DB Scaling:</a:t>
            </a:r>
            <a:r>
              <a:rPr lang="en-US" sz="2000" dirty="0"/>
              <a:t> Run benchmarks at 100K and 1M vectors on the WIT dataset on HPC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Visualization:</a:t>
            </a:r>
            <a:r>
              <a:rPr lang="en-US" sz="2000" dirty="0"/>
              <a:t> Add latency and recall graphs to compare DBs and index types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Final Report:</a:t>
            </a:r>
            <a:r>
              <a:rPr lang="en-US" sz="2000" dirty="0"/>
              <a:t> Full IEEE format paper with complete results and analysis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BFC37D-9386-39A7-9848-410AEFD902BF}"/>
              </a:ext>
            </a:extLst>
          </p:cNvPr>
          <p:cNvSpPr txBox="1"/>
          <p:nvPr/>
        </p:nvSpPr>
        <p:spPr>
          <a:xfrm>
            <a:off x="797442" y="1658679"/>
            <a:ext cx="556082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Adding lightweight RAG so retrieved chunks feed into a model and produce a readable answer, purely for visualization, not core benchmarking.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Query -&gt; Top-K Chunks -&gt; Prompt + Context -&gt; Generated Answer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chunk_id</a:t>
            </a:r>
            <a:r>
              <a:rPr lang="en-US" dirty="0"/>
              <a:t> from vector DB results points back to the original chunks-text and image in </a:t>
            </a:r>
            <a:r>
              <a:rPr lang="en-US" dirty="0" err="1"/>
              <a:t>DuckDB</a:t>
            </a:r>
            <a:r>
              <a:rPr lang="en-US" dirty="0"/>
              <a:t>, the RAG display uses the top-k retrieved to make a meaningful answer.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used: google/flan-t5-base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 queries are sampled for display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chunk_id</a:t>
            </a:r>
            <a:r>
              <a:rPr lang="en-US" dirty="0"/>
              <a:t> is stored as vector DB metadata at insert time, so it can fetch the original content at query time.</a:t>
            </a:r>
            <a:endParaRPr lang="en-IN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5F219CBD-614A-A679-1A72-305933B70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06" y="6287932"/>
            <a:ext cx="2749534" cy="3657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>
            <a:extLst>
              <a:ext uri="{FF2B5EF4-FFF2-40B4-BE49-F238E27FC236}">
                <a16:creationId xmlns:a16="http://schemas.microsoft.com/office/drawing/2014/main" id="{9F2B22F8-E3D3-757A-8EDE-311962A2DD10}"/>
              </a:ext>
            </a:extLst>
          </p:cNvPr>
          <p:cNvSpPr/>
          <p:nvPr/>
        </p:nvSpPr>
        <p:spPr>
          <a:xfrm>
            <a:off x="1648047" y="501006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Recall Evaluation of CLIP with Query Pipeline</a:t>
            </a:r>
            <a:endParaRPr lang="en-US" sz="2800" dirty="0"/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7F616397-4CC4-4FD1-3435-A7C4D8DE3F11}"/>
              </a:ext>
            </a:extLst>
          </p:cNvPr>
          <p:cNvSpPr/>
          <p:nvPr/>
        </p:nvSpPr>
        <p:spPr>
          <a:xfrm>
            <a:off x="825087" y="13829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 dirty="0">
                <a:solidFill>
                  <a:srgbClr val="2563EB"/>
                </a:solidFill>
              </a:rPr>
              <a:t>Dataset Lane</a:t>
            </a:r>
            <a:endParaRPr lang="en-US" sz="750" dirty="0"/>
          </a:p>
        </p:txBody>
      </p:sp>
      <p:sp>
        <p:nvSpPr>
          <p:cNvPr id="68" name="Text 3">
            <a:extLst>
              <a:ext uri="{FF2B5EF4-FFF2-40B4-BE49-F238E27FC236}">
                <a16:creationId xmlns:a16="http://schemas.microsoft.com/office/drawing/2014/main" id="{42D33E7E-4E44-5D1C-5663-4D493AA1D788}"/>
              </a:ext>
            </a:extLst>
          </p:cNvPr>
          <p:cNvSpPr/>
          <p:nvPr/>
        </p:nvSpPr>
        <p:spPr>
          <a:xfrm>
            <a:off x="3766052" y="13829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 dirty="0">
                <a:solidFill>
                  <a:srgbClr val="7C3AED"/>
                </a:solidFill>
              </a:rPr>
              <a:t>Query Lane</a:t>
            </a:r>
            <a:endParaRPr lang="en-US" sz="750" dirty="0"/>
          </a:p>
        </p:txBody>
      </p:sp>
      <p:sp>
        <p:nvSpPr>
          <p:cNvPr id="69" name="Shape 4">
            <a:extLst>
              <a:ext uri="{FF2B5EF4-FFF2-40B4-BE49-F238E27FC236}">
                <a16:creationId xmlns:a16="http://schemas.microsoft.com/office/drawing/2014/main" id="{BE8F22F8-A3AF-39FC-7B1E-8FC988C4591D}"/>
              </a:ext>
            </a:extLst>
          </p:cNvPr>
          <p:cNvSpPr/>
          <p:nvPr/>
        </p:nvSpPr>
        <p:spPr>
          <a:xfrm>
            <a:off x="825087" y="1565860"/>
            <a:ext cx="2011680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0" name="Text 5">
            <a:extLst>
              <a:ext uri="{FF2B5EF4-FFF2-40B4-BE49-F238E27FC236}">
                <a16:creationId xmlns:a16="http://schemas.microsoft.com/office/drawing/2014/main" id="{24AD13FF-FF11-F1D6-E113-967B3B13BF36}"/>
              </a:ext>
            </a:extLst>
          </p:cNvPr>
          <p:cNvSpPr/>
          <p:nvPr/>
        </p:nvSpPr>
        <p:spPr>
          <a:xfrm>
            <a:off x="825087" y="1565860"/>
            <a:ext cx="20116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</a:rPr>
              <a:t>Text &amp; Image Input</a:t>
            </a:r>
            <a:endParaRPr lang="en-US" sz="95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6B7280"/>
                </a:solidFill>
              </a:rPr>
              <a:t>Wiki dataset and  (WIT)</a:t>
            </a:r>
            <a:endParaRPr lang="en-US" sz="950" dirty="0"/>
          </a:p>
        </p:txBody>
      </p:sp>
      <p:sp>
        <p:nvSpPr>
          <p:cNvPr id="71" name="Shape 6">
            <a:extLst>
              <a:ext uri="{FF2B5EF4-FFF2-40B4-BE49-F238E27FC236}">
                <a16:creationId xmlns:a16="http://schemas.microsoft.com/office/drawing/2014/main" id="{19011CAD-42BB-AD89-7649-C200CC7074BC}"/>
              </a:ext>
            </a:extLst>
          </p:cNvPr>
          <p:cNvSpPr/>
          <p:nvPr/>
        </p:nvSpPr>
        <p:spPr>
          <a:xfrm>
            <a:off x="3766052" y="1565860"/>
            <a:ext cx="2011680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2" name="Text 7">
            <a:extLst>
              <a:ext uri="{FF2B5EF4-FFF2-40B4-BE49-F238E27FC236}">
                <a16:creationId xmlns:a16="http://schemas.microsoft.com/office/drawing/2014/main" id="{9DD4739A-2A70-4B3B-4007-8411F5EC4D83}"/>
              </a:ext>
            </a:extLst>
          </p:cNvPr>
          <p:cNvSpPr/>
          <p:nvPr/>
        </p:nvSpPr>
        <p:spPr>
          <a:xfrm>
            <a:off x="3766052" y="1565860"/>
            <a:ext cx="20116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</a:rPr>
              <a:t>Text Input + Answers</a:t>
            </a:r>
            <a:endParaRPr lang="en-US" sz="95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6B7280"/>
                </a:solidFill>
              </a:rPr>
              <a:t>Queries &amp; answer chunks</a:t>
            </a:r>
            <a:endParaRPr lang="en-US" sz="950" dirty="0"/>
          </a:p>
        </p:txBody>
      </p:sp>
      <p:sp>
        <p:nvSpPr>
          <p:cNvPr id="73" name="Shape 8">
            <a:extLst>
              <a:ext uri="{FF2B5EF4-FFF2-40B4-BE49-F238E27FC236}">
                <a16:creationId xmlns:a16="http://schemas.microsoft.com/office/drawing/2014/main" id="{14AEC5DD-6711-B24F-DE20-98BDCBA88779}"/>
              </a:ext>
            </a:extLst>
          </p:cNvPr>
          <p:cNvSpPr/>
          <p:nvPr/>
        </p:nvSpPr>
        <p:spPr>
          <a:xfrm>
            <a:off x="1830927" y="2041348"/>
            <a:ext cx="0" cy="201168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9">
            <a:extLst>
              <a:ext uri="{FF2B5EF4-FFF2-40B4-BE49-F238E27FC236}">
                <a16:creationId xmlns:a16="http://schemas.microsoft.com/office/drawing/2014/main" id="{C7D8B3B9-B30B-9D22-F2D3-7EA7E001679C}"/>
              </a:ext>
            </a:extLst>
          </p:cNvPr>
          <p:cNvSpPr/>
          <p:nvPr/>
        </p:nvSpPr>
        <p:spPr>
          <a:xfrm>
            <a:off x="4771892" y="2041348"/>
            <a:ext cx="0" cy="20116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10">
            <a:extLst>
              <a:ext uri="{FF2B5EF4-FFF2-40B4-BE49-F238E27FC236}">
                <a16:creationId xmlns:a16="http://schemas.microsoft.com/office/drawing/2014/main" id="{8D4D4DD9-67AF-3ECF-E2AE-C16788E9FCD9}"/>
              </a:ext>
            </a:extLst>
          </p:cNvPr>
          <p:cNvSpPr/>
          <p:nvPr/>
        </p:nvSpPr>
        <p:spPr>
          <a:xfrm>
            <a:off x="825087" y="2242516"/>
            <a:ext cx="2011680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6" name="Text 11">
            <a:extLst>
              <a:ext uri="{FF2B5EF4-FFF2-40B4-BE49-F238E27FC236}">
                <a16:creationId xmlns:a16="http://schemas.microsoft.com/office/drawing/2014/main" id="{17C69C55-7828-EE54-028E-89C03F8E678E}"/>
              </a:ext>
            </a:extLst>
          </p:cNvPr>
          <p:cNvSpPr/>
          <p:nvPr/>
        </p:nvSpPr>
        <p:spPr>
          <a:xfrm>
            <a:off x="825087" y="2242516"/>
            <a:ext cx="20116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</a:rPr>
              <a:t>CLIP Encoder</a:t>
            </a:r>
            <a:endParaRPr lang="en-US" sz="95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6B7280"/>
                </a:solidFill>
              </a:rPr>
              <a:t>Image+text → embedding</a:t>
            </a:r>
            <a:endParaRPr lang="en-US" sz="950" dirty="0"/>
          </a:p>
        </p:txBody>
      </p:sp>
      <p:sp>
        <p:nvSpPr>
          <p:cNvPr id="77" name="Shape 12">
            <a:extLst>
              <a:ext uri="{FF2B5EF4-FFF2-40B4-BE49-F238E27FC236}">
                <a16:creationId xmlns:a16="http://schemas.microsoft.com/office/drawing/2014/main" id="{1B7D5DA4-EDF6-BDAF-CA47-1E0F4C411A29}"/>
              </a:ext>
            </a:extLst>
          </p:cNvPr>
          <p:cNvSpPr/>
          <p:nvPr/>
        </p:nvSpPr>
        <p:spPr>
          <a:xfrm>
            <a:off x="3766052" y="2242516"/>
            <a:ext cx="2011680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8" name="Text 13">
            <a:extLst>
              <a:ext uri="{FF2B5EF4-FFF2-40B4-BE49-F238E27FC236}">
                <a16:creationId xmlns:a16="http://schemas.microsoft.com/office/drawing/2014/main" id="{C6A2D95C-1068-96E9-B9F0-342590CC3586}"/>
              </a:ext>
            </a:extLst>
          </p:cNvPr>
          <p:cNvSpPr/>
          <p:nvPr/>
        </p:nvSpPr>
        <p:spPr>
          <a:xfrm>
            <a:off x="3766052" y="2242516"/>
            <a:ext cx="20116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</a:rPr>
              <a:t>Text Embedder</a:t>
            </a:r>
            <a:endParaRPr lang="en-US" sz="95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6B7280"/>
                </a:solidFill>
              </a:rPr>
              <a:t>Text/ans → text embedding</a:t>
            </a:r>
            <a:endParaRPr lang="en-US" sz="950" dirty="0"/>
          </a:p>
        </p:txBody>
      </p:sp>
      <p:sp>
        <p:nvSpPr>
          <p:cNvPr id="79" name="Shape 14">
            <a:extLst>
              <a:ext uri="{FF2B5EF4-FFF2-40B4-BE49-F238E27FC236}">
                <a16:creationId xmlns:a16="http://schemas.microsoft.com/office/drawing/2014/main" id="{0A6979A6-6993-CACD-CCEE-115C67452A75}"/>
              </a:ext>
            </a:extLst>
          </p:cNvPr>
          <p:cNvSpPr/>
          <p:nvPr/>
        </p:nvSpPr>
        <p:spPr>
          <a:xfrm>
            <a:off x="1830927" y="2718004"/>
            <a:ext cx="0" cy="256032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15">
            <a:extLst>
              <a:ext uri="{FF2B5EF4-FFF2-40B4-BE49-F238E27FC236}">
                <a16:creationId xmlns:a16="http://schemas.microsoft.com/office/drawing/2014/main" id="{5CCE81B4-F4C9-935E-9160-F298C8FC00B7}"/>
              </a:ext>
            </a:extLst>
          </p:cNvPr>
          <p:cNvSpPr/>
          <p:nvPr/>
        </p:nvSpPr>
        <p:spPr>
          <a:xfrm>
            <a:off x="1830927" y="2974036"/>
            <a:ext cx="1486432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16">
            <a:extLst>
              <a:ext uri="{FF2B5EF4-FFF2-40B4-BE49-F238E27FC236}">
                <a16:creationId xmlns:a16="http://schemas.microsoft.com/office/drawing/2014/main" id="{B86BB090-91CE-C874-E82D-670B31745E4A}"/>
              </a:ext>
            </a:extLst>
          </p:cNvPr>
          <p:cNvSpPr/>
          <p:nvPr/>
        </p:nvSpPr>
        <p:spPr>
          <a:xfrm>
            <a:off x="2781478" y="2974036"/>
            <a:ext cx="0" cy="201168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17">
            <a:extLst>
              <a:ext uri="{FF2B5EF4-FFF2-40B4-BE49-F238E27FC236}">
                <a16:creationId xmlns:a16="http://schemas.microsoft.com/office/drawing/2014/main" id="{0758DC39-EC9D-2C95-7CB2-C17D7288C0F0}"/>
              </a:ext>
            </a:extLst>
          </p:cNvPr>
          <p:cNvSpPr/>
          <p:nvPr/>
        </p:nvSpPr>
        <p:spPr>
          <a:xfrm>
            <a:off x="4771892" y="2718004"/>
            <a:ext cx="0" cy="256032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18">
            <a:extLst>
              <a:ext uri="{FF2B5EF4-FFF2-40B4-BE49-F238E27FC236}">
                <a16:creationId xmlns:a16="http://schemas.microsoft.com/office/drawing/2014/main" id="{1D6AD83A-82AF-40F0-ED18-6D68E6534587}"/>
              </a:ext>
            </a:extLst>
          </p:cNvPr>
          <p:cNvSpPr/>
          <p:nvPr/>
        </p:nvSpPr>
        <p:spPr>
          <a:xfrm>
            <a:off x="2220079" y="2974036"/>
            <a:ext cx="256032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19">
            <a:extLst>
              <a:ext uri="{FF2B5EF4-FFF2-40B4-BE49-F238E27FC236}">
                <a16:creationId xmlns:a16="http://schemas.microsoft.com/office/drawing/2014/main" id="{6435E6D7-F4C1-E1D4-60C1-C6BA6111A542}"/>
              </a:ext>
            </a:extLst>
          </p:cNvPr>
          <p:cNvSpPr/>
          <p:nvPr/>
        </p:nvSpPr>
        <p:spPr>
          <a:xfrm>
            <a:off x="3878758" y="2974036"/>
            <a:ext cx="0" cy="20116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85" name="Shape 20">
            <a:extLst>
              <a:ext uri="{FF2B5EF4-FFF2-40B4-BE49-F238E27FC236}">
                <a16:creationId xmlns:a16="http://schemas.microsoft.com/office/drawing/2014/main" id="{0C51AA52-A678-9C0A-3711-46E44A028456}"/>
              </a:ext>
            </a:extLst>
          </p:cNvPr>
          <p:cNvSpPr/>
          <p:nvPr/>
        </p:nvSpPr>
        <p:spPr>
          <a:xfrm>
            <a:off x="1214239" y="3175204"/>
            <a:ext cx="4206240" cy="54864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6" name="Text 21">
            <a:extLst>
              <a:ext uri="{FF2B5EF4-FFF2-40B4-BE49-F238E27FC236}">
                <a16:creationId xmlns:a16="http://schemas.microsoft.com/office/drawing/2014/main" id="{D4813C67-05E2-78CA-1C79-2AE380FA2774}"/>
              </a:ext>
            </a:extLst>
          </p:cNvPr>
          <p:cNvSpPr/>
          <p:nvPr/>
        </p:nvSpPr>
        <p:spPr>
          <a:xfrm>
            <a:off x="1214239" y="3175204"/>
            <a:ext cx="42062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</a:rPr>
              <a:t>Vector Database</a:t>
            </a:r>
            <a:endParaRPr lang="en-US" sz="11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E7490"/>
                </a:solidFill>
              </a:rPr>
              <a:t>Both image &amp; text embeddings stored together</a:t>
            </a:r>
            <a:endParaRPr lang="en-US" sz="1100" dirty="0"/>
          </a:p>
        </p:txBody>
      </p:sp>
      <p:sp>
        <p:nvSpPr>
          <p:cNvPr id="87" name="Shape 22">
            <a:extLst>
              <a:ext uri="{FF2B5EF4-FFF2-40B4-BE49-F238E27FC236}">
                <a16:creationId xmlns:a16="http://schemas.microsoft.com/office/drawing/2014/main" id="{0EFF1B1B-D210-9E82-E1B9-B441B5356E05}"/>
              </a:ext>
            </a:extLst>
          </p:cNvPr>
          <p:cNvSpPr/>
          <p:nvPr/>
        </p:nvSpPr>
        <p:spPr>
          <a:xfrm>
            <a:off x="3317359" y="3723844"/>
            <a:ext cx="0" cy="201168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23">
            <a:extLst>
              <a:ext uri="{FF2B5EF4-FFF2-40B4-BE49-F238E27FC236}">
                <a16:creationId xmlns:a16="http://schemas.microsoft.com/office/drawing/2014/main" id="{67A2FE79-8060-0F1B-EF9B-D0FA2B6CBA94}"/>
              </a:ext>
            </a:extLst>
          </p:cNvPr>
          <p:cNvSpPr/>
          <p:nvPr/>
        </p:nvSpPr>
        <p:spPr>
          <a:xfrm>
            <a:off x="2220079" y="3925012"/>
            <a:ext cx="2194560" cy="475488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9" name="Text 24">
            <a:extLst>
              <a:ext uri="{FF2B5EF4-FFF2-40B4-BE49-F238E27FC236}">
                <a16:creationId xmlns:a16="http://schemas.microsoft.com/office/drawing/2014/main" id="{B70D9D97-036E-16BD-FC36-5C14D8F818FF}"/>
              </a:ext>
            </a:extLst>
          </p:cNvPr>
          <p:cNvSpPr/>
          <p:nvPr/>
        </p:nvSpPr>
        <p:spPr>
          <a:xfrm>
            <a:off x="2220079" y="3925012"/>
            <a:ext cx="219456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</a:rPr>
              <a:t>Top-K Retrieval</a:t>
            </a:r>
            <a:endParaRPr lang="en-US" sz="95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6B7280"/>
                </a:solidFill>
              </a:rPr>
              <a:t>K nearest vectors to query</a:t>
            </a:r>
            <a:endParaRPr lang="en-US" sz="950" dirty="0"/>
          </a:p>
        </p:txBody>
      </p:sp>
      <p:sp>
        <p:nvSpPr>
          <p:cNvPr id="90" name="Shape 25">
            <a:extLst>
              <a:ext uri="{FF2B5EF4-FFF2-40B4-BE49-F238E27FC236}">
                <a16:creationId xmlns:a16="http://schemas.microsoft.com/office/drawing/2014/main" id="{047DE908-8776-995B-7F23-ACCE4B8915D0}"/>
              </a:ext>
            </a:extLst>
          </p:cNvPr>
          <p:cNvSpPr/>
          <p:nvPr/>
        </p:nvSpPr>
        <p:spPr>
          <a:xfrm>
            <a:off x="3317359" y="4400500"/>
            <a:ext cx="0" cy="201168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26">
            <a:extLst>
              <a:ext uri="{FF2B5EF4-FFF2-40B4-BE49-F238E27FC236}">
                <a16:creationId xmlns:a16="http://schemas.microsoft.com/office/drawing/2014/main" id="{E0BAE5BF-B44D-38A7-FEB4-7F1CA39B9661}"/>
              </a:ext>
            </a:extLst>
          </p:cNvPr>
          <p:cNvSpPr/>
          <p:nvPr/>
        </p:nvSpPr>
        <p:spPr>
          <a:xfrm>
            <a:off x="2082919" y="4601668"/>
            <a:ext cx="2468880" cy="47548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2" name="Text 27">
            <a:extLst>
              <a:ext uri="{FF2B5EF4-FFF2-40B4-BE49-F238E27FC236}">
                <a16:creationId xmlns:a16="http://schemas.microsoft.com/office/drawing/2014/main" id="{B00934FF-D1B7-8CFF-9A3E-61822CE3439E}"/>
              </a:ext>
            </a:extLst>
          </p:cNvPr>
          <p:cNvSpPr/>
          <p:nvPr/>
        </p:nvSpPr>
        <p:spPr>
          <a:xfrm>
            <a:off x="2082919" y="4601668"/>
            <a:ext cx="24688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2626"/>
                </a:solidFill>
              </a:rPr>
              <a:t>Cosine Similarity  ★</a:t>
            </a:r>
            <a:endParaRPr lang="en-US" sz="105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991B1B"/>
                </a:solidFill>
              </a:rPr>
              <a:t>sim(query_vec, chunk_vec) — ranks retrieved chunks</a:t>
            </a:r>
            <a:endParaRPr lang="en-US" sz="1050" dirty="0"/>
          </a:p>
        </p:txBody>
      </p:sp>
      <p:sp>
        <p:nvSpPr>
          <p:cNvPr id="93" name="Shape 28">
            <a:extLst>
              <a:ext uri="{FF2B5EF4-FFF2-40B4-BE49-F238E27FC236}">
                <a16:creationId xmlns:a16="http://schemas.microsoft.com/office/drawing/2014/main" id="{22EB1683-A5BA-0F7C-915E-D21334210056}"/>
              </a:ext>
            </a:extLst>
          </p:cNvPr>
          <p:cNvSpPr/>
          <p:nvPr/>
        </p:nvSpPr>
        <p:spPr>
          <a:xfrm>
            <a:off x="3317359" y="5077156"/>
            <a:ext cx="0" cy="201168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94" name="Shape 29">
            <a:extLst>
              <a:ext uri="{FF2B5EF4-FFF2-40B4-BE49-F238E27FC236}">
                <a16:creationId xmlns:a16="http://schemas.microsoft.com/office/drawing/2014/main" id="{692C14A8-9453-04B4-2021-C25DC1F83EC0}"/>
              </a:ext>
            </a:extLst>
          </p:cNvPr>
          <p:cNvSpPr/>
          <p:nvPr/>
        </p:nvSpPr>
        <p:spPr>
          <a:xfrm>
            <a:off x="2220079" y="5278324"/>
            <a:ext cx="2194560" cy="475488"/>
          </a:xfrm>
          <a:prstGeom prst="rect">
            <a:avLst/>
          </a:prstGeom>
          <a:solidFill>
            <a:srgbClr val="FEF9C3"/>
          </a:solidFill>
          <a:ln w="12700">
            <a:solidFill>
              <a:srgbClr val="CA8A0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5" name="Text 30">
            <a:extLst>
              <a:ext uri="{FF2B5EF4-FFF2-40B4-BE49-F238E27FC236}">
                <a16:creationId xmlns:a16="http://schemas.microsoft.com/office/drawing/2014/main" id="{18CC557D-D6A1-7E09-B7C0-E948F59D4B1C}"/>
              </a:ext>
            </a:extLst>
          </p:cNvPr>
          <p:cNvSpPr/>
          <p:nvPr/>
        </p:nvSpPr>
        <p:spPr>
          <a:xfrm>
            <a:off x="2220079" y="5278324"/>
            <a:ext cx="219456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</a:rPr>
              <a:t>Recall@K</a:t>
            </a:r>
            <a:endParaRPr lang="en-US" sz="110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92400E"/>
                </a:solidFill>
              </a:rPr>
              <a:t>Relevant chunks found in top-K / all relevant</a:t>
            </a:r>
            <a:endParaRPr lang="en-US" sz="1100" dirty="0"/>
          </a:p>
        </p:txBody>
      </p:sp>
      <p:sp>
        <p:nvSpPr>
          <p:cNvPr id="96" name="Date Placeholder 13">
            <a:extLst>
              <a:ext uri="{FF2B5EF4-FFF2-40B4-BE49-F238E27FC236}">
                <a16:creationId xmlns:a16="http://schemas.microsoft.com/office/drawing/2014/main" id="{5C325AC3-390A-839D-D773-8BD55E5B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27 March 2026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3AE4BFE-3EA6-6450-8044-14CC230413BC}"/>
              </a:ext>
            </a:extLst>
          </p:cNvPr>
          <p:cNvSpPr txBox="1"/>
          <p:nvPr/>
        </p:nvSpPr>
        <p:spPr>
          <a:xfrm>
            <a:off x="6987718" y="1275907"/>
            <a:ext cx="420056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Why recall was added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Existing metrics (latency, throughput) do not capture </a:t>
            </a:r>
            <a:r>
              <a:rPr lang="en-US" sz="1200" b="1" dirty="0"/>
              <a:t>result correctness</a:t>
            </a:r>
            <a:r>
              <a:rPr lang="en-US" sz="12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Needed a way to evaluate if retrieved chunks are </a:t>
            </a:r>
            <a:r>
              <a:rPr lang="en-US" sz="1200" b="1" dirty="0"/>
              <a:t>actually relevant</a:t>
            </a:r>
            <a:r>
              <a:rPr lang="en-US" sz="1200" dirty="0"/>
              <a:t> </a:t>
            </a:r>
          </a:p>
          <a:p>
            <a:endParaRPr lang="en-US" sz="1200" dirty="0"/>
          </a:p>
          <a:p>
            <a:r>
              <a:rPr lang="en-US" sz="1200" b="1" dirty="0"/>
              <a:t>Choice of similarity method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Used </a:t>
            </a:r>
            <a:r>
              <a:rPr lang="en-US" sz="1200" b="1" dirty="0"/>
              <a:t>cosine similarity on CLIP embeddings</a:t>
            </a:r>
            <a:r>
              <a:rPr lang="en-US" sz="12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Same embedding space as retrieval → ensures </a:t>
            </a:r>
            <a:r>
              <a:rPr lang="en-US" sz="1200" b="1" dirty="0"/>
              <a:t>consistency</a:t>
            </a:r>
            <a:r>
              <a:rPr lang="en-US" sz="12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Avoids introducing a separate model that may bias evaluation </a:t>
            </a:r>
          </a:p>
          <a:p>
            <a:endParaRPr lang="en-US" sz="1200" dirty="0"/>
          </a:p>
          <a:p>
            <a:r>
              <a:rPr lang="en-US" sz="1200" b="1" dirty="0"/>
              <a:t>How similarity is computed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Query is converted to </a:t>
            </a:r>
            <a:r>
              <a:rPr lang="en-US" sz="1200" b="1" dirty="0"/>
              <a:t>CLIP text embedding</a:t>
            </a:r>
            <a:r>
              <a:rPr lang="en-US" sz="12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Retrieved Top-K chunks already have embeddings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Compute </a:t>
            </a:r>
            <a:r>
              <a:rPr lang="en-US" sz="1200" b="1" dirty="0"/>
              <a:t>cosine similarity between query and each chunk</a:t>
            </a:r>
            <a:r>
              <a:rPr lang="en-US" sz="12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Higher similarity → higher relevance </a:t>
            </a:r>
          </a:p>
          <a:p>
            <a:endParaRPr lang="en-US" sz="1200" dirty="0"/>
          </a:p>
          <a:p>
            <a:r>
              <a:rPr lang="en-US" sz="1200" b="1" dirty="0"/>
              <a:t>Why this approach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Lightweight and scalable for large query sets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Works for both </a:t>
            </a:r>
            <a:r>
              <a:rPr lang="en-US" sz="1200" b="1" dirty="0"/>
              <a:t>text and image retrieval</a:t>
            </a:r>
            <a:r>
              <a:rPr lang="en-US" sz="12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Keeps evaluation aligned with actual retrieval behavior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592327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0889B6-1DFB-B9DC-B6DF-803791ABA5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305861"/>
              </p:ext>
            </p:extLst>
          </p:nvPr>
        </p:nvGraphicFramePr>
        <p:xfrm>
          <a:off x="1307804" y="1541721"/>
          <a:ext cx="9824484" cy="3095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7414">
                  <a:extLst>
                    <a:ext uri="{9D8B030D-6E8A-4147-A177-3AD203B41FA5}">
                      <a16:colId xmlns:a16="http://schemas.microsoft.com/office/drawing/2014/main" val="1405986234"/>
                    </a:ext>
                  </a:extLst>
                </a:gridCol>
                <a:gridCol w="1637414">
                  <a:extLst>
                    <a:ext uri="{9D8B030D-6E8A-4147-A177-3AD203B41FA5}">
                      <a16:colId xmlns:a16="http://schemas.microsoft.com/office/drawing/2014/main" val="2834689353"/>
                    </a:ext>
                  </a:extLst>
                </a:gridCol>
                <a:gridCol w="1637414">
                  <a:extLst>
                    <a:ext uri="{9D8B030D-6E8A-4147-A177-3AD203B41FA5}">
                      <a16:colId xmlns:a16="http://schemas.microsoft.com/office/drawing/2014/main" val="754782693"/>
                    </a:ext>
                  </a:extLst>
                </a:gridCol>
                <a:gridCol w="1637414">
                  <a:extLst>
                    <a:ext uri="{9D8B030D-6E8A-4147-A177-3AD203B41FA5}">
                      <a16:colId xmlns:a16="http://schemas.microsoft.com/office/drawing/2014/main" val="2616378469"/>
                    </a:ext>
                  </a:extLst>
                </a:gridCol>
                <a:gridCol w="1637414">
                  <a:extLst>
                    <a:ext uri="{9D8B030D-6E8A-4147-A177-3AD203B41FA5}">
                      <a16:colId xmlns:a16="http://schemas.microsoft.com/office/drawing/2014/main" val="1380369456"/>
                    </a:ext>
                  </a:extLst>
                </a:gridCol>
                <a:gridCol w="1637414">
                  <a:extLst>
                    <a:ext uri="{9D8B030D-6E8A-4147-A177-3AD203B41FA5}">
                      <a16:colId xmlns:a16="http://schemas.microsoft.com/office/drawing/2014/main" val="2629985935"/>
                    </a:ext>
                  </a:extLst>
                </a:gridCol>
              </a:tblGrid>
              <a:tr h="621356">
                <a:tc>
                  <a:txBody>
                    <a:bodyPr/>
                    <a:lstStyle/>
                    <a:p>
                      <a:r>
                        <a:rPr lang="en-US" dirty="0"/>
                        <a:t>Database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Index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Avg Latency (s)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Throughput </a:t>
                      </a:r>
                    </a:p>
                    <a:p>
                      <a:r>
                        <a:rPr lang="en-US" dirty="0"/>
                        <a:t>(q/s)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Time (s)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275360"/>
                  </a:ext>
                </a:extLst>
              </a:tr>
              <a:tr h="491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E60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Milvus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HNSW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111.51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0460998"/>
                  </a:ext>
                </a:extLst>
              </a:tr>
              <a:tr h="491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E60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Milvus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DiskANN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0851063"/>
                  </a:ext>
                </a:extLst>
              </a:tr>
              <a:tr h="491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E60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Milvus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7659295"/>
                  </a:ext>
                </a:extLst>
              </a:tr>
              <a:tr h="491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E60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Qdrant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HNSW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117.09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8.54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7725054"/>
                  </a:ext>
                </a:extLst>
              </a:tr>
              <a:tr h="491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E60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HNSW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109.65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2000820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B836A60F-CD81-5EC2-DA6E-D97C7696F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Benchmarking Table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A484E4-2C13-8F17-FDA7-C0FD2C3B224C}"/>
              </a:ext>
            </a:extLst>
          </p:cNvPr>
          <p:cNvSpPr txBox="1"/>
          <p:nvPr/>
        </p:nvSpPr>
        <p:spPr>
          <a:xfrm>
            <a:off x="1977655" y="4898127"/>
            <a:ext cx="8399721" cy="92333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dirty="0"/>
              <a:t>Latency: time for a single query</a:t>
            </a:r>
          </a:p>
          <a:p>
            <a:r>
              <a:rPr lang="en-US" dirty="0"/>
              <a:t>Throughput: </a:t>
            </a:r>
            <a:r>
              <a:rPr lang="en-US" dirty="0" err="1"/>
              <a:t>no.of</a:t>
            </a:r>
            <a:r>
              <a:rPr lang="en-US" dirty="0"/>
              <a:t> query per second</a:t>
            </a:r>
          </a:p>
          <a:p>
            <a:endParaRPr lang="en-US" dirty="0"/>
          </a:p>
          <a:p>
            <a:r>
              <a:rPr lang="en-US" dirty="0"/>
              <a:t>No of queries: 1000</a:t>
            </a:r>
          </a:p>
          <a:p>
            <a:r>
              <a:rPr lang="en-US" dirty="0"/>
              <a:t>Recall: correct results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0521DD62-5715-DC26-4C0B-99C8D87B65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27 March 2026</a:t>
            </a:r>
          </a:p>
        </p:txBody>
      </p:sp>
    </p:spTree>
    <p:extLst>
      <p:ext uri="{BB962C8B-B14F-4D97-AF65-F5344CB8AC3E}">
        <p14:creationId xmlns:p14="http://schemas.microsoft.com/office/powerpoint/2010/main" val="1923336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83B21-9BCF-6EA5-46C5-9F8AFA07F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B396CC7-4E0C-515B-B4B9-00D49C2E6AF4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1963250"/>
          <a:ext cx="8128000" cy="2157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40598623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3468935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5478269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1637846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80369456"/>
                    </a:ext>
                  </a:extLst>
                </a:gridCol>
              </a:tblGrid>
              <a:tr h="505884">
                <a:tc>
                  <a:txBody>
                    <a:bodyPr/>
                    <a:lstStyle/>
                    <a:p>
                      <a:r>
                        <a:rPr lang="en-US" dirty="0"/>
                        <a:t>Database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Index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Avg Latency (s)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Throughput (q/s)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Time </a:t>
                      </a:r>
                      <a:br>
                        <a:rPr lang="en-US" dirty="0"/>
                      </a:br>
                      <a:r>
                        <a:rPr lang="en-US" dirty="0"/>
                        <a:t>(s)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275360"/>
                  </a:ext>
                </a:extLst>
              </a:tr>
              <a:tr h="505884">
                <a:tc>
                  <a:txBody>
                    <a:bodyPr/>
                    <a:lstStyle/>
                    <a:p>
                      <a:r>
                        <a:rPr lang="en-US" dirty="0"/>
                        <a:t>Chroma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HNSW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0.0036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85.78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11.66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460998"/>
                  </a:ext>
                </a:extLst>
              </a:tr>
              <a:tr h="505884">
                <a:tc>
                  <a:txBody>
                    <a:bodyPr/>
                    <a:lstStyle/>
                    <a:p>
                      <a:r>
                        <a:rPr lang="en-US" dirty="0" err="1"/>
                        <a:t>Qdrant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HNSW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0.0167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40.15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24.91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851063"/>
                  </a:ext>
                </a:extLst>
              </a:tr>
              <a:tr h="505884">
                <a:tc>
                  <a:txBody>
                    <a:bodyPr/>
                    <a:lstStyle/>
                    <a:p>
                      <a:r>
                        <a:rPr lang="en-US" dirty="0"/>
                        <a:t>Milvus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IVF_Flat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0.0062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68.95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14.5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7659295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15D01993-4E52-4B82-01D1-0381916C7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Benchmarking Table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F41BEB-77BC-23AB-64BA-496E7F054C31}"/>
              </a:ext>
            </a:extLst>
          </p:cNvPr>
          <p:cNvSpPr txBox="1"/>
          <p:nvPr/>
        </p:nvSpPr>
        <p:spPr>
          <a:xfrm>
            <a:off x="2032000" y="4898127"/>
            <a:ext cx="6931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Latency: time for a single query</a:t>
            </a:r>
          </a:p>
          <a:p>
            <a:r>
              <a:rPr lang="en-US" dirty="0"/>
              <a:t>Throughput: </a:t>
            </a:r>
            <a:r>
              <a:rPr lang="en-US" dirty="0" err="1"/>
              <a:t>no.of</a:t>
            </a:r>
            <a:r>
              <a:rPr lang="en-US" dirty="0"/>
              <a:t> query per second</a:t>
            </a:r>
          </a:p>
          <a:p>
            <a:r>
              <a:rPr lang="en-US" dirty="0"/>
              <a:t>No of queries: 1000</a:t>
            </a:r>
            <a:endParaRPr lang="en-IN" dirty="0"/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5D341F11-398C-FF77-9F1A-24E4D64841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11 March 2026</a:t>
            </a:r>
          </a:p>
        </p:txBody>
      </p:sp>
    </p:spTree>
    <p:extLst>
      <p:ext uri="{BB962C8B-B14F-4D97-AF65-F5344CB8AC3E}">
        <p14:creationId xmlns:p14="http://schemas.microsoft.com/office/powerpoint/2010/main" val="2033808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1735E7-B32C-95B9-A1E0-6362E8CEF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346139"/>
            <a:ext cx="5157787" cy="823912"/>
          </a:xfr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dirty="0"/>
              <a:t>Completed this week</a:t>
            </a:r>
            <a:endParaRPr lang="en-IN" sz="32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16325E0-241B-715A-9EAE-621D57440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344168"/>
            <a:ext cx="5157787" cy="4845495"/>
          </a:xfrm>
          <a:ln>
            <a:solidFill>
              <a:schemeClr val="tx2"/>
            </a:solidFill>
          </a:ln>
        </p:spPr>
        <p:txBody>
          <a:bodyPr>
            <a:normAutofit lnSpcReduction="10000"/>
          </a:bodyPr>
          <a:lstStyle/>
          <a:p>
            <a:pPr marL="0" indent="0">
              <a:spcBef>
                <a:spcPts val="500"/>
              </a:spcBef>
              <a:buNone/>
            </a:pPr>
            <a:r>
              <a:rPr lang="en-IN" sz="1600" b="1" dirty="0"/>
              <a:t>1.  Explored options to add images:</a:t>
            </a:r>
            <a:endParaRPr lang="en-IN" sz="1600" dirty="0"/>
          </a:p>
          <a:p>
            <a:pPr marL="342900" indent="-342900">
              <a:spcBef>
                <a:spcPts val="500"/>
              </a:spcBef>
              <a:buAutoNum type="alphaLcPeriod"/>
            </a:pPr>
            <a:r>
              <a:rPr lang="en-IN" sz="1600" dirty="0"/>
              <a:t>Text &amp; image in different vector spaces vs. same vector space </a:t>
            </a:r>
          </a:p>
          <a:p>
            <a:pPr marL="342900" indent="-342900">
              <a:spcBef>
                <a:spcPts val="500"/>
              </a:spcBef>
              <a:buAutoNum type="alphaLcPeriod"/>
            </a:pPr>
            <a:r>
              <a:rPr lang="en-IN" sz="1600" dirty="0"/>
              <a:t>diff. model vs. same embedder</a:t>
            </a:r>
          </a:p>
          <a:p>
            <a:pPr marL="342900" indent="-342900">
              <a:spcBef>
                <a:spcPts val="500"/>
              </a:spcBef>
              <a:buAutoNum type="alphaLcPeriod"/>
            </a:pPr>
            <a:r>
              <a:rPr lang="en-IN" sz="1600" dirty="0"/>
              <a:t>Hybrid approach: convert images to text</a:t>
            </a:r>
          </a:p>
          <a:p>
            <a:pPr marL="342900" indent="-342900">
              <a:spcBef>
                <a:spcPts val="500"/>
              </a:spcBef>
              <a:buAutoNum type="alphaLcPeriod"/>
            </a:pPr>
            <a:r>
              <a:rPr lang="en-IN" sz="1600" dirty="0"/>
              <a:t>Extract directly from Wikipedia, or explore Wikimedia Commons</a:t>
            </a:r>
          </a:p>
          <a:p>
            <a:pPr marL="342900" indent="-342900">
              <a:spcBef>
                <a:spcPts val="500"/>
              </a:spcBef>
              <a:buAutoNum type="alphaLcPeriod"/>
            </a:pPr>
            <a:r>
              <a:rPr lang="en-IN" sz="1600" dirty="0"/>
              <a:t>HF datasets: MS COCO, Conceptual Captions, LAION</a:t>
            </a:r>
            <a:br>
              <a:rPr lang="en-IN" sz="1600" dirty="0"/>
            </a:br>
            <a:endParaRPr lang="en-IN" sz="1600" dirty="0"/>
          </a:p>
          <a:p>
            <a:pPr marL="0" indent="0">
              <a:spcBef>
                <a:spcPts val="500"/>
              </a:spcBef>
              <a:buNone/>
            </a:pPr>
            <a:r>
              <a:rPr lang="en-IN" sz="1600" b="1" dirty="0"/>
              <a:t>2.  Decided to go with WIT (Wikipedia Image Text) and sampled 1000 images with metadata:</a:t>
            </a:r>
            <a:endParaRPr lang="en-IN" sz="1600" dirty="0"/>
          </a:p>
          <a:p>
            <a:pPr>
              <a:spcBef>
                <a:spcPts val="300"/>
              </a:spcBef>
              <a:buNone/>
            </a:pPr>
            <a:r>
              <a:rPr lang="en-IN" sz="1600" dirty="0"/>
              <a:t>• </a:t>
            </a:r>
            <a:r>
              <a:rPr lang="en-IN" sz="1600" dirty="0" err="1"/>
              <a:t>image_id</a:t>
            </a:r>
            <a:endParaRPr lang="en-IN" sz="1600" dirty="0"/>
          </a:p>
          <a:p>
            <a:pPr>
              <a:spcBef>
                <a:spcPts val="300"/>
              </a:spcBef>
              <a:buNone/>
            </a:pPr>
            <a:r>
              <a:rPr lang="en-IN" sz="1600" dirty="0"/>
              <a:t>• </a:t>
            </a:r>
            <a:r>
              <a:rPr lang="en-IN" sz="1600" dirty="0" err="1"/>
              <a:t>article_id</a:t>
            </a:r>
            <a:endParaRPr lang="en-IN" sz="1600" dirty="0"/>
          </a:p>
          <a:p>
            <a:pPr>
              <a:spcBef>
                <a:spcPts val="300"/>
              </a:spcBef>
              <a:buNone/>
            </a:pPr>
            <a:r>
              <a:rPr lang="en-IN" sz="1600" dirty="0"/>
              <a:t>• Caption</a:t>
            </a:r>
            <a:br>
              <a:rPr lang="en-IN" sz="1600" dirty="0"/>
            </a:br>
            <a:endParaRPr lang="en-IN" sz="1600" dirty="0"/>
          </a:p>
          <a:p>
            <a:pPr>
              <a:spcBef>
                <a:spcPts val="500"/>
              </a:spcBef>
              <a:buNone/>
            </a:pPr>
            <a:r>
              <a:rPr lang="en-IN" sz="1600" b="1" dirty="0"/>
              <a:t>3.	 Added new embedding model, CLIP, which transforms text &amp; images to vectors:</a:t>
            </a:r>
            <a:endParaRPr lang="en-IN" sz="1600" dirty="0"/>
          </a:p>
          <a:p>
            <a:pPr marL="0" indent="0">
              <a:spcBef>
                <a:spcPts val="500"/>
              </a:spcBef>
              <a:buNone/>
            </a:pPr>
            <a:r>
              <a:rPr lang="en-IN" sz="1600" dirty="0"/>
              <a:t>Both text &amp; image vectors in same vector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3906DD9-02A1-CA7D-5BFF-9CB181C362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346139"/>
            <a:ext cx="5183188" cy="82391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dirty="0"/>
              <a:t>To be done</a:t>
            </a:r>
            <a:endParaRPr lang="en-IN" sz="320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EEC6EDB-DA32-10B0-B798-A4745080B6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344168"/>
            <a:ext cx="5183188" cy="4845495"/>
          </a:xfrm>
          <a:ln>
            <a:solidFill>
              <a:schemeClr val="tx2"/>
            </a:solidFill>
          </a:ln>
        </p:spPr>
        <p:txBody>
          <a:bodyPr>
            <a:normAutofit lnSpcReduction="10000"/>
          </a:bodyPr>
          <a:lstStyle/>
          <a:p>
            <a:r>
              <a:rPr lang="en-US" sz="2000" dirty="0"/>
              <a:t>Match images to existing 1,000 Wikipedia articles when scaling</a:t>
            </a:r>
          </a:p>
          <a:p>
            <a:r>
              <a:rPr lang="en-IN" sz="2000" dirty="0"/>
              <a:t>RAG Integration: Add Retrieval-Augmented Generation system. Evaluate open-source LLMs (</a:t>
            </a:r>
            <a:r>
              <a:rPr lang="en-IN" sz="2000" dirty="0" err="1"/>
              <a:t>LLaMA</a:t>
            </a:r>
            <a:r>
              <a:rPr lang="en-IN" sz="2000" dirty="0"/>
              <a:t> 3, Mistral 7B, Gemma 2B/7B).</a:t>
            </a:r>
          </a:p>
          <a:p>
            <a:r>
              <a:rPr lang="en-IN" sz="2000" dirty="0"/>
              <a:t>Dataset Scaling: Expand dataset beyond 1000 articles. Increase query set beyond 1000.</a:t>
            </a:r>
          </a:p>
          <a:p>
            <a:r>
              <a:rPr lang="en-IN" sz="2000" dirty="0"/>
              <a:t>Data Storage Optimization: Optimize storing &amp; accessing dataset via database.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E7B49032-153B-7AC5-EE21-40E5BCA70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04 March 2026</a:t>
            </a:r>
          </a:p>
        </p:txBody>
      </p:sp>
    </p:spTree>
    <p:extLst>
      <p:ext uri="{BB962C8B-B14F-4D97-AF65-F5344CB8AC3E}">
        <p14:creationId xmlns:p14="http://schemas.microsoft.com/office/powerpoint/2010/main" val="2193463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CCE2B-F517-63D9-97E0-8FF9016AE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743791-AE8B-A9D3-2AC3-D324E1FE7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346139"/>
            <a:ext cx="5157787" cy="823912"/>
          </a:xfr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dirty="0"/>
              <a:t>Completed this week</a:t>
            </a:r>
            <a:endParaRPr lang="en-IN" sz="32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FDBC6A1-611A-EA13-44E8-7EAEB96FD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344168"/>
            <a:ext cx="5157787" cy="4845495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en-IN" sz="2000" dirty="0"/>
              <a:t>Migration: </a:t>
            </a:r>
            <a:br>
              <a:rPr lang="en-IN" sz="2000" dirty="0"/>
            </a:br>
            <a:r>
              <a:rPr lang="en-IN" sz="2000" dirty="0"/>
              <a:t>Migrated project to IU Research Desktop (RED) Linux VM environment.</a:t>
            </a:r>
          </a:p>
          <a:p>
            <a:r>
              <a:rPr lang="en-IN" sz="2000" dirty="0"/>
              <a:t>Milvus: </a:t>
            </a:r>
            <a:br>
              <a:rPr lang="en-IN" sz="2000" dirty="0"/>
            </a:br>
            <a:r>
              <a:rPr lang="en-IN" sz="2000" dirty="0"/>
              <a:t>Integrated Milvus into modular pipeline, with </a:t>
            </a:r>
            <a:r>
              <a:rPr lang="en-IN" sz="2000" dirty="0" err="1"/>
              <a:t>milvus_lite</a:t>
            </a:r>
            <a:r>
              <a:rPr lang="en-IN" sz="2000" dirty="0"/>
              <a:t> and milvus standalone</a:t>
            </a:r>
          </a:p>
          <a:p>
            <a:r>
              <a:rPr lang="en-IN" sz="2000" dirty="0"/>
              <a:t>Milvus Algo: </a:t>
            </a:r>
            <a:br>
              <a:rPr lang="en-IN" sz="2000" dirty="0"/>
            </a:br>
            <a:r>
              <a:rPr lang="en-IN" sz="2000" dirty="0"/>
              <a:t>Retrieval flow with HNSW and </a:t>
            </a:r>
            <a:r>
              <a:rPr lang="en-IN" sz="2000" dirty="0" err="1"/>
              <a:t>DiskANN</a:t>
            </a:r>
            <a:r>
              <a:rPr lang="en-IN" sz="2000" dirty="0"/>
              <a:t> indexing configurations.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B38DFC5-80CC-DFA1-5827-2E31322C4F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346139"/>
            <a:ext cx="5183188" cy="82391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dirty="0"/>
              <a:t>To be done</a:t>
            </a:r>
            <a:endParaRPr lang="en-IN" sz="320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1884007-B9A7-2C0E-E39B-164808D603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344168"/>
            <a:ext cx="5183188" cy="4845495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en-IN" sz="2000" dirty="0"/>
              <a:t>Encoder Expansion: Test alternate encoders (BGE-large, E5-large, GTE-base).</a:t>
            </a:r>
          </a:p>
          <a:p>
            <a:r>
              <a:rPr lang="en-IN" sz="2000" dirty="0"/>
              <a:t>RAG Integration: Add Retrieval-Augmented Generation system. Evaluate open-source LLMs (</a:t>
            </a:r>
            <a:r>
              <a:rPr lang="en-IN" sz="2000" dirty="0" err="1"/>
              <a:t>LLaMA</a:t>
            </a:r>
            <a:r>
              <a:rPr lang="en-IN" sz="2000" dirty="0"/>
              <a:t> 3, Mistral 7B, Gemma 2B/7B).</a:t>
            </a:r>
          </a:p>
          <a:p>
            <a:r>
              <a:rPr lang="en-IN" sz="2000" dirty="0"/>
              <a:t>Multimodal Exploration: Investigate adding images to dataset. Explore alternate query inputs/types.</a:t>
            </a:r>
          </a:p>
          <a:p>
            <a:r>
              <a:rPr lang="en-IN" sz="2000" dirty="0"/>
              <a:t>Dataset Scaling: Expand dataset beyond 1000 articles. Increase query set beyond 1000.</a:t>
            </a:r>
          </a:p>
          <a:p>
            <a:r>
              <a:rPr lang="en-IN" sz="2000" dirty="0"/>
              <a:t>Data Storage Optimization: Optimize storing &amp; accessing dataset via database.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9793898A-9B04-7CCA-6F1E-08F81689A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18 Feb 2026</a:t>
            </a:r>
          </a:p>
        </p:txBody>
      </p:sp>
    </p:spTree>
    <p:extLst>
      <p:ext uri="{BB962C8B-B14F-4D97-AF65-F5344CB8AC3E}">
        <p14:creationId xmlns:p14="http://schemas.microsoft.com/office/powerpoint/2010/main" val="2131282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C16248-E094-BA2D-9A7F-7AC2F5C66D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265" y="0"/>
            <a:ext cx="50814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382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A823C4-4733-2DF6-1DCD-EAA0F06FF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952" y="0"/>
            <a:ext cx="438912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00ECC2-183F-1270-058C-A58061383DB0}"/>
              </a:ext>
            </a:extLst>
          </p:cNvPr>
          <p:cNvSpPr txBox="1"/>
          <p:nvPr/>
        </p:nvSpPr>
        <p:spPr>
          <a:xfrm>
            <a:off x="941832" y="1298448"/>
            <a:ext cx="49834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+mj-lt"/>
              </a:rPr>
              <a:t>Updated Pipeline with </a:t>
            </a:r>
            <a:br>
              <a:rPr lang="en-US" sz="4000" b="1" dirty="0">
                <a:latin typeface="+mj-lt"/>
              </a:rPr>
            </a:br>
            <a:r>
              <a:rPr lang="en-US" sz="4000" b="1" dirty="0">
                <a:latin typeface="+mj-lt"/>
              </a:rPr>
              <a:t>proposed RAG system</a:t>
            </a:r>
            <a:endParaRPr lang="en-IN" sz="4000" b="1" dirty="0">
              <a:latin typeface="+mj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5AE6703-474E-BB66-CE96-078400B8C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18 Feb 2026</a:t>
            </a:r>
          </a:p>
        </p:txBody>
      </p:sp>
    </p:spTree>
    <p:extLst>
      <p:ext uri="{BB962C8B-B14F-4D97-AF65-F5344CB8AC3E}">
        <p14:creationId xmlns:p14="http://schemas.microsoft.com/office/powerpoint/2010/main" val="761739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E5E05E-6C68-4536-3AA3-D2413B9374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3B0726-2668-75F8-A6B6-533603D84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012302"/>
              </p:ext>
            </p:extLst>
          </p:nvPr>
        </p:nvGraphicFramePr>
        <p:xfrm>
          <a:off x="4992624" y="872066"/>
          <a:ext cx="5431536" cy="20764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4096">
                  <a:extLst>
                    <a:ext uri="{9D8B030D-6E8A-4147-A177-3AD203B41FA5}">
                      <a16:colId xmlns:a16="http://schemas.microsoft.com/office/drawing/2014/main" val="61518367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560336928"/>
                    </a:ext>
                  </a:extLst>
                </a:gridCol>
              </a:tblGrid>
              <a:tr h="459119">
                <a:tc>
                  <a:txBody>
                    <a:bodyPr/>
                    <a:lstStyle/>
                    <a:p>
                      <a:r>
                        <a:rPr lang="en-US" dirty="0"/>
                        <a:t>HNSW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DiskANN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82479"/>
                  </a:ext>
                </a:extLst>
              </a:tr>
              <a:tr h="459119">
                <a:tc>
                  <a:txBody>
                    <a:bodyPr/>
                    <a:lstStyle/>
                    <a:p>
                      <a:r>
                        <a:rPr lang="en-US" sz="1400" dirty="0"/>
                        <a:t>HNSW is not a full database by itself, but a vector indexing algorithm used inside many vector databases to perform fast approximate nearest neighbor search.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DiskANN</a:t>
                      </a:r>
                      <a:r>
                        <a:rPr lang="en-US" sz="1400" dirty="0"/>
                        <a:t> is an ANN indexing algorithm designed for large-scale vector search, especially when the dataset is too large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570901"/>
                  </a:ext>
                </a:extLst>
              </a:tr>
              <a:tr h="459119">
                <a:tc>
                  <a:txBody>
                    <a:bodyPr/>
                    <a:lstStyle/>
                    <a:p>
                      <a:r>
                        <a:rPr lang="en-US" sz="1400" dirty="0"/>
                        <a:t>Chroma, </a:t>
                      </a:r>
                      <a:r>
                        <a:rPr lang="en-US" sz="1400" dirty="0" err="1"/>
                        <a:t>Qdrant</a:t>
                      </a:r>
                      <a:r>
                        <a:rPr lang="en-US" sz="1400" dirty="0"/>
                        <a:t>, Milvus, Pinecone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Milvus, FAISS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61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D28870F-7184-DC64-8A02-66321EA9937D}"/>
              </a:ext>
            </a:extLst>
          </p:cNvPr>
          <p:cNvSpPr txBox="1"/>
          <p:nvPr/>
        </p:nvSpPr>
        <p:spPr>
          <a:xfrm>
            <a:off x="4526280" y="4197096"/>
            <a:ext cx="6858000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/>
              <a:t>When using HNSW in vector databases like </a:t>
            </a:r>
            <a:r>
              <a:rPr lang="en-IN" sz="1600" dirty="0" err="1"/>
              <a:t>Qdrant</a:t>
            </a:r>
            <a:r>
              <a:rPr lang="en-IN" sz="1600" dirty="0"/>
              <a:t>, Milvus, or Pinecone, you usually tune:	</a:t>
            </a:r>
            <a:br>
              <a:rPr lang="en-IN" sz="1600" dirty="0"/>
            </a:br>
            <a:r>
              <a:rPr lang="en-IN" sz="1600" dirty="0"/>
              <a:t>• </a:t>
            </a:r>
            <a:r>
              <a:rPr lang="en-IN" sz="1600" b="1" dirty="0"/>
              <a:t>M → Number of connections per node</a:t>
            </a:r>
            <a:br>
              <a:rPr lang="en-IN" sz="1600" b="1" dirty="0"/>
            </a:br>
            <a:r>
              <a:rPr lang="en-IN" sz="1600" dirty="0"/>
              <a:t>Higher M = better recall but more memory usage	</a:t>
            </a:r>
            <a:br>
              <a:rPr lang="en-IN" sz="1600" dirty="0"/>
            </a:br>
            <a:r>
              <a:rPr lang="en-IN" sz="1600" dirty="0"/>
              <a:t>• </a:t>
            </a:r>
            <a:r>
              <a:rPr lang="en-IN" sz="1600" b="1" dirty="0" err="1"/>
              <a:t>ef_construction</a:t>
            </a:r>
            <a:r>
              <a:rPr lang="en-IN" sz="1600" b="1" dirty="0"/>
              <a:t> → Controls index build quality</a:t>
            </a:r>
            <a:br>
              <a:rPr lang="en-IN" sz="1600" b="1" dirty="0"/>
            </a:br>
            <a:r>
              <a:rPr lang="en-IN" sz="1600" dirty="0"/>
              <a:t>Higher value = better accuracy, slower indexing	</a:t>
            </a:r>
            <a:br>
              <a:rPr lang="en-IN" sz="1600" dirty="0"/>
            </a:br>
            <a:r>
              <a:rPr lang="en-IN" sz="1600" dirty="0"/>
              <a:t>• </a:t>
            </a:r>
            <a:r>
              <a:rPr lang="en-IN" sz="1600" b="1" dirty="0" err="1"/>
              <a:t>ef_search</a:t>
            </a:r>
            <a:r>
              <a:rPr lang="en-IN" sz="1600" b="1" dirty="0"/>
              <a:t> → Controls search accuracy</a:t>
            </a:r>
            <a:br>
              <a:rPr lang="en-IN" sz="1600" b="1" dirty="0"/>
            </a:br>
            <a:r>
              <a:rPr lang="en-IN" sz="1600" dirty="0"/>
              <a:t>Higher value = better recall, slightly slower queries</a:t>
            </a:r>
            <a:br>
              <a:rPr lang="en-IN" sz="1600" dirty="0"/>
            </a:br>
            <a:r>
              <a:rPr lang="en-IN" sz="1600" dirty="0"/>
              <a:t>These parameters allow you to balance speed, memory, and accuracy.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AF776-58E5-5BF2-02F8-B697799BC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11 Feb 2026</a:t>
            </a:r>
          </a:p>
        </p:txBody>
      </p:sp>
    </p:spTree>
    <p:extLst>
      <p:ext uri="{BB962C8B-B14F-4D97-AF65-F5344CB8AC3E}">
        <p14:creationId xmlns:p14="http://schemas.microsoft.com/office/powerpoint/2010/main" val="22734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DD4A7-077A-29C2-0FFA-80CE63018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1E639A-9A14-7955-DBCC-71834C6BD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65"/>
          <a:stretch>
            <a:fillRect/>
          </a:stretch>
        </p:blipFill>
        <p:spPr>
          <a:xfrm>
            <a:off x="1224643" y="321128"/>
            <a:ext cx="9742714" cy="621574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D1ECD8-0D3B-CE06-9EE2-F3C449D1D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11 Feb 2026</a:t>
            </a:r>
          </a:p>
        </p:txBody>
      </p:sp>
    </p:spTree>
    <p:extLst>
      <p:ext uri="{BB962C8B-B14F-4D97-AF65-F5344CB8AC3E}">
        <p14:creationId xmlns:p14="http://schemas.microsoft.com/office/powerpoint/2010/main" val="2050137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821</TotalTime>
  <Words>1548</Words>
  <Application>Microsoft Office PowerPoint</Application>
  <PresentationFormat>Widescreen</PresentationFormat>
  <Paragraphs>278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Recall and Precision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Benchmarking Table</vt:lpstr>
      <vt:lpstr>Benchmarking 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H I V A L I</dc:creator>
  <cp:lastModifiedBy>S H I V A L I</cp:lastModifiedBy>
  <cp:revision>37</cp:revision>
  <dcterms:created xsi:type="dcterms:W3CDTF">2026-02-11T20:32:26Z</dcterms:created>
  <dcterms:modified xsi:type="dcterms:W3CDTF">2026-04-19T21:05:44Z</dcterms:modified>
</cp:coreProperties>
</file>